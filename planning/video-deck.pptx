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This is Family-Hub — an agent that runs our household. It plans the weekend, assigns the chores, watches the bills, and does the booking legwork. And here is the thing: it cannot spend our money. Not won't — CAN'T. There is nothing in it that can pay. Running a family is a coordination job nobody applied for — and the reason we don't hand it to an AI is trust. So I built the trust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The valuable work isn't answering questions — it's multi-step: research pass rules on the live web, check our calendar, draft the itinerary, find the real booking page and gather what its form will ask. That takes an agent that chooses tools and keeps going. But every capability is also blast radius — so the architecture is a safety stack with an agent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One copilot, two engines. Simple asks run a deterministic harness — the server pre-fetches verified facts: availability, weather, real venues with drive times — and the model reasons over THOSE, so it can't invent a place. Action turns go to an ADK multi-agent concierge: a root router with no tools of its own, delegating to seven specialists, each MCP-filtered to its own slice — the shopping agent literally cannot touch the calendar. Every write carries a server-side risk tier: reversible creates auto-apply, everything destructive stages into Approvals — and there is NO payment tool to call. That invariant is enforced in the MCP layer and proven by tests, not promised by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Everything risky lands in one place: Approvals. The morning agent's proposals, deletes, event suggestions — approve, modify, or dismiss. Booking handoffs open the venue's real page with the details listed beside it — it never fills the form and never pays. And the whole thing stays in its lane: ask it for homework help and it politely declines.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Closed-app, every morning, a scheduler runs this planner: grounded in today's facts it PROPOSES — a gift for the birthday it sees, the next step of a goal it's tracking — and deterministic code stages the proposals as confirm-tier drafts. Model proposes, code stages, parent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The wall tablet is the kid surface. One toggle: picture-first chores for a four-year-old, confetti on completion — and every destructive tap is gone. The ask-box stays, because the worst a kid's request can do is stage a draft for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Built solo, vibe-coded end to end. It started life as a Google AI Studio app; Antigravity ran an early dev pass — and here it is later reviewing the shipped dark-mode shell for UX and accessibility [SHOW THE JUN 24 ANTIGRAVITY SESSION]. The main loop ran in Claude Code with Gemini as the runtime brain the whole way. The eval suite does something rare for agent demos: it attacks the agent — and pins the safety invariants as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to ~5:00 — LIVE DEMO, fresh incognito window, pre-warmed demo. Follow the six beats on this slide in order; they are the README Golden Path. Close over the Today page: "Family-Hub. A multi-agent concierge with the safety story first — and a four-year-old-safe front end. The link's below — ask it for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A"/>
        </a:solidFill>
      </p:bgPr>
    </p:bg>
    <p:spTree>
      <p:nvGrpSpPr>
        <p:cNvPr id="1" name=""/>
        <p:cNvGrpSpPr/>
        <p:nvPr/>
      </p:nvGrpSpPr>
      <p:grpSpPr>
        <a:xfrm>
          <a:off x="0" y="0"/>
          <a:ext cx="0" cy="0"/>
          <a:chOff x="0" y="0"/>
          <a:chExt cx="0" cy="0"/>
        </a:xfrm>
      </p:grpSpPr>
      <p:pic>
        <p:nvPicPr>
          <p:cNvPr id="2" name="Image 0" descr="docs/kaggle-cover.png">    </p:cNvPr>
          <p:cNvPicPr>
            <a:picLocks noChangeAspect="1"/>
          </p:cNvPicPr>
          <p:nvPr/>
        </p:nvPicPr>
        <p:blipFill>
          <a:blip r:embed="rId1"/>
          <a:srcRect l="0" r="0" t="0" b="0"/>
          <a:stretch/>
        </p:blipFill>
        <p:spPr>
          <a:xfrm>
            <a:off x="6126480" y="0"/>
            <a:ext cx="6062472" cy="6858000"/>
          </a:xfrm>
          <a:prstGeom prst="rect">
            <a:avLst/>
          </a:prstGeom>
        </p:spPr>
      </p:pic>
      <p:sp>
        <p:nvSpPr>
          <p:cNvPr id="3" name="Shape 0"/>
          <p:cNvSpPr/>
          <p:nvPr/>
        </p:nvSpPr>
        <p:spPr>
          <a:xfrm>
            <a:off x="6126480" y="0"/>
            <a:ext cx="6062472" cy="6858000"/>
          </a:xfrm>
          <a:prstGeom prst="rect">
            <a:avLst/>
          </a:prstGeom>
          <a:solidFill>
            <a:srgbClr val="0B0F1A">
              <a:alpha val="55000"/>
            </a:srgbClr>
          </a:solidFill>
          <a:ln/>
        </p:spPr>
      </p:sp>
      <p:sp>
        <p:nvSpPr>
          <p:cNvPr id="4" name="Text 1"/>
          <p:cNvSpPr/>
          <p:nvPr/>
        </p:nvSpPr>
        <p:spPr>
          <a:xfrm>
            <a:off x="548640" y="1920240"/>
            <a:ext cx="5486400" cy="1005840"/>
          </a:xfrm>
          <a:prstGeom prst="rect">
            <a:avLst/>
          </a:prstGeom>
          <a:noFill/>
          <a:ln/>
        </p:spPr>
        <p:txBody>
          <a:bodyPr wrap="square" rtlCol="0" anchor="ctr"/>
          <a:lstStyle/>
          <a:p>
            <a:pPr indent="0" marL="0">
              <a:buNone/>
            </a:pPr>
            <a:r>
              <a:rPr lang="en-US" sz="5400" b="1" dirty="0">
                <a:solidFill>
                  <a:srgbClr val="F4F5FF"/>
                </a:solidFill>
                <a:latin typeface="Arial" pitchFamily="34" charset="0"/>
                <a:ea typeface="Arial" pitchFamily="34" charset="-122"/>
                <a:cs typeface="Arial" pitchFamily="34" charset="-120"/>
              </a:rPr>
              <a:t>Family-Hub</a:t>
            </a:r>
            <a:endParaRPr lang="en-US" sz="5400" dirty="0"/>
          </a:p>
        </p:txBody>
      </p:sp>
      <p:sp>
        <p:nvSpPr>
          <p:cNvPr id="5" name="Text 2"/>
          <p:cNvSpPr/>
          <p:nvPr/>
        </p:nvSpPr>
        <p:spPr>
          <a:xfrm>
            <a:off x="566928" y="2926080"/>
            <a:ext cx="5394960" cy="640080"/>
          </a:xfrm>
          <a:prstGeom prst="rect">
            <a:avLst/>
          </a:prstGeom>
          <a:noFill/>
          <a:ln/>
        </p:spPr>
        <p:txBody>
          <a:bodyPr wrap="square" rtlCol="0" anchor="ctr"/>
          <a:lstStyle/>
          <a:p>
            <a:pPr indent="0" marL="0">
              <a:buNone/>
            </a:pPr>
            <a:r>
              <a:rPr lang="en-US" sz="2200" i="1" dirty="0">
                <a:solidFill>
                  <a:srgbClr val="9AA1C0"/>
                </a:solidFill>
                <a:latin typeface="Calibri" pitchFamily="34" charset="0"/>
                <a:ea typeface="Calibri" pitchFamily="34" charset="-122"/>
                <a:cs typeface="Calibri" pitchFamily="34" charset="-120"/>
              </a:rPr>
              <a:t>An agent that runs your family’s week.</a:t>
            </a:r>
            <a:endParaRPr lang="en-US" sz="2200" dirty="0"/>
          </a:p>
        </p:txBody>
      </p:sp>
      <p:sp>
        <p:nvSpPr>
          <p:cNvPr id="6" name="Text 3"/>
          <p:cNvSpPr/>
          <p:nvPr/>
        </p:nvSpPr>
        <p:spPr>
          <a:xfrm>
            <a:off x="566928" y="3794760"/>
            <a:ext cx="5394960" cy="1097280"/>
          </a:xfrm>
          <a:prstGeom prst="rect">
            <a:avLst/>
          </a:prstGeom>
          <a:noFill/>
          <a:ln/>
        </p:spPr>
        <p:txBody>
          <a:bodyPr wrap="square" rtlCol="0" anchor="ctr"/>
          <a:lstStyle/>
          <a:p>
            <a:pPr indent="0" marL="0">
              <a:buNone/>
            </a:pPr>
            <a:r>
              <a:rPr lang="en-US" sz="2600" dirty="0">
                <a:solidFill>
                  <a:srgbClr val="F4F5FF"/>
                </a:solidFill>
                <a:latin typeface="Arial" pitchFamily="34" charset="0"/>
                <a:ea typeface="Arial" pitchFamily="34" charset="-122"/>
                <a:cs typeface="Arial" pitchFamily="34" charset="-120"/>
              </a:rPr>
              <a:t>It can’t spend our money.
</a:t>
            </a:r>
            <a:pPr indent="0" marL="0">
              <a:buNone/>
            </a:pPr>
            <a:r>
              <a:rPr lang="en-US" sz="2600" b="1" dirty="0">
                <a:solidFill>
                  <a:srgbClr val="F2B84B"/>
                </a:solidFill>
                <a:latin typeface="Arial" pitchFamily="34" charset="0"/>
                <a:ea typeface="Arial" pitchFamily="34" charset="-122"/>
                <a:cs typeface="Arial" pitchFamily="34" charset="-120"/>
              </a:rPr>
              <a:t>Not won’t — can’t.</a:t>
            </a:r>
            <a:endParaRPr lang="en-US" sz="2600" dirty="0"/>
          </a:p>
        </p:txBody>
      </p:sp>
      <p:sp>
        <p:nvSpPr>
          <p:cNvPr id="7" name="Text 4"/>
          <p:cNvSpPr/>
          <p:nvPr/>
        </p:nvSpPr>
        <p:spPr>
          <a:xfrm>
            <a:off x="566928" y="6035040"/>
            <a:ext cx="5394960" cy="365760"/>
          </a:xfrm>
          <a:prstGeom prst="rect">
            <a:avLst/>
          </a:prstGeom>
          <a:noFill/>
          <a:ln/>
        </p:spPr>
        <p:txBody>
          <a:bodyPr wrap="square" rtlCol="0" anchor="ctr"/>
          <a:lstStyle/>
          <a:p>
            <a:pPr indent="0" marL="0">
              <a:buNone/>
            </a:pPr>
            <a:r>
              <a:rPr lang="en-US" sz="1300" dirty="0">
                <a:solidFill>
                  <a:srgbClr val="9AA1C0"/>
                </a:solidFill>
                <a:latin typeface="Calibri" pitchFamily="34" charset="0"/>
                <a:ea typeface="Calibri" pitchFamily="34" charset="-122"/>
                <a:cs typeface="Calibri" pitchFamily="34" charset="-120"/>
              </a:rPr>
              <a:t>Kaggle AI Agents Capstone · Concierge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indent="0" marL="0">
              <a:buNone/>
            </a:pPr>
            <a:r>
              <a:rPr lang="en-US" sz="1200" b="1" spc="300" kern="0" dirty="0">
                <a:solidFill>
                  <a:srgbClr val="7C7FF2"/>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indent="0" marL="0">
              <a:buNone/>
            </a:pPr>
            <a:r>
              <a:rPr lang="en-US" sz="3400" b="1" dirty="0">
                <a:solidFill>
                  <a:srgbClr val="F4F5FF"/>
                </a:solidFill>
                <a:latin typeface="Arial" pitchFamily="34" charset="0"/>
                <a:ea typeface="Arial" pitchFamily="34" charset="-122"/>
                <a:cs typeface="Arial" pitchFamily="34" charset="-120"/>
              </a:rPr>
              <a:t>The valuable work is multi-step — that takes an agent</a:t>
            </a:r>
            <a:endParaRPr lang="en-US" sz="3400" dirty="0"/>
          </a:p>
        </p:txBody>
      </p:sp>
      <p:pic>
        <p:nvPicPr>
          <p:cNvPr id="4" name="Image 0" descr="docs/user-guide/02-today.png">    </p:cNvPr>
          <p:cNvPicPr>
            <a:picLocks noChangeAspect="1"/>
          </p:cNvPicPr>
          <p:nvPr/>
        </p:nvPicPr>
        <p:blipFill>
          <a:blip r:embed="rId1"/>
          <a:stretch>
            <a:fillRect/>
          </a:stretch>
        </p:blipFill>
        <p:spPr>
          <a:xfrm>
            <a:off x="6400800" y="1737360"/>
            <a:ext cx="5212080" cy="3501801"/>
          </a:xfrm>
          <a:prstGeom prst="rect">
            <a:avLst/>
          </a:prstGeom>
          <a:effectLst>
            <a:outerShdw sx="100000" sy="100000" kx="0" ky="0" algn="bl" rotWithShape="0" blurRad="177800" dist="63500" dir="540000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Research the park’s pass rules on the live web</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Check the family calendar and the weather</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Draft the itinerary, find the real booking page</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Gather what the form will ask — before you ever see it</a:t>
            </a:r>
            <a:endParaRPr lang="en-US" sz="1700" dirty="0"/>
          </a:p>
        </p:txBody>
      </p:sp>
      <p:sp>
        <p:nvSpPr>
          <p:cNvPr id="6" name="Text 3"/>
          <p:cNvSpPr/>
          <p:nvPr/>
        </p:nvSpPr>
        <p:spPr>
          <a:xfrm>
            <a:off x="566928" y="4480560"/>
            <a:ext cx="5486400" cy="1097280"/>
          </a:xfrm>
          <a:prstGeom prst="rect">
            <a:avLst/>
          </a:prstGeom>
          <a:noFill/>
          <a:ln/>
        </p:spPr>
        <p:txBody>
          <a:bodyPr wrap="square" rtlCol="0" anchor="ctr"/>
          <a:lstStyle/>
          <a:p>
            <a:pPr indent="0" marL="0">
              <a:buNone/>
            </a:pPr>
            <a:r>
              <a:rPr lang="en-US" sz="1700" i="1" dirty="0">
                <a:solidFill>
                  <a:srgbClr val="F2B84B"/>
                </a:solidFill>
                <a:latin typeface="Calibri" pitchFamily="34" charset="0"/>
                <a:ea typeface="Calibri" pitchFamily="34" charset="-122"/>
                <a:cs typeface="Calibri" pitchFamily="34" charset="-120"/>
              </a:rPr>
              <a:t>Every capability is also blast radius — so the architecture is a safety stack with an agent inside.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indent="0" marL="0">
              <a:buNone/>
            </a:pPr>
            <a:r>
              <a:rPr lang="en-US" sz="1200" b="1" spc="300" kern="0" dirty="0">
                <a:solidFill>
                  <a:srgbClr val="7C7FF2"/>
                </a:solidFill>
                <a:latin typeface="Arial" pitchFamily="34" charset="0"/>
                <a:ea typeface="Arial" pitchFamily="34" charset="-122"/>
                <a:cs typeface="Arial" pitchFamily="34" charset="-120"/>
              </a:rPr>
              <a:t>ARCHITECTURE</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indent="0" marL="0">
              <a:buNone/>
            </a:pPr>
            <a:r>
              <a:rPr lang="en-US" sz="3400" b="1" dirty="0">
                <a:solidFill>
                  <a:srgbClr val="F4F5FF"/>
                </a:solidFill>
                <a:latin typeface="Arial" pitchFamily="34" charset="0"/>
                <a:ea typeface="Arial" pitchFamily="34" charset="-122"/>
                <a:cs typeface="Arial" pitchFamily="34" charset="-120"/>
              </a:rPr>
              <a:t>One copilot, two engines</a:t>
            </a:r>
            <a:endParaRPr lang="en-US" sz="3400" dirty="0"/>
          </a:p>
        </p:txBody>
      </p:sp>
      <p:sp>
        <p:nvSpPr>
          <p:cNvPr id="4" name="Shape 2"/>
          <p:cNvSpPr/>
          <p:nvPr/>
        </p:nvSpPr>
        <p:spPr>
          <a:xfrm>
            <a:off x="566928" y="1417320"/>
            <a:ext cx="2926080" cy="731520"/>
          </a:xfrm>
          <a:prstGeom prst="roundRect">
            <a:avLst>
              <a:gd name="adj" fmla="val 10000"/>
            </a:avLst>
          </a:prstGeom>
          <a:solidFill>
            <a:srgbClr val="141A2E"/>
          </a:solidFill>
          <a:ln w="6350">
            <a:solidFill>
              <a:srgbClr val="7C7FF2"/>
            </a:solidFill>
            <a:prstDash val="solid"/>
          </a:ln>
        </p:spPr>
      </p:sp>
      <p:sp>
        <p:nvSpPr>
          <p:cNvPr id="5" name="Text 3"/>
          <p:cNvSpPr/>
          <p:nvPr/>
        </p:nvSpPr>
        <p:spPr>
          <a:xfrm>
            <a:off x="566928" y="1417320"/>
            <a:ext cx="2926080" cy="731520"/>
          </a:xfrm>
          <a:prstGeom prst="rect">
            <a:avLst/>
          </a:prstGeom>
          <a:noFill/>
          <a:ln/>
        </p:spPr>
        <p:txBody>
          <a:bodyPr wrap="square" rtlCol="0" anchor="ctr"/>
          <a:lstStyle/>
          <a:p>
            <a:pPr algn="ctr" indent="0" marL="0">
              <a:buNone/>
            </a:pPr>
            <a:r>
              <a:rPr lang="en-US" sz="1400" b="1" dirty="0">
                <a:solidFill>
                  <a:srgbClr val="F4F5FF"/>
                </a:solidFill>
                <a:latin typeface="Arial" pitchFamily="34" charset="0"/>
                <a:ea typeface="Arial" pitchFamily="34" charset="-122"/>
                <a:cs typeface="Arial" pitchFamily="34" charset="-120"/>
              </a:rPr>
              <a:t>React shell · one ask-box</a:t>
            </a:r>
            <a:endParaRPr lang="en-US" sz="1400" dirty="0"/>
          </a:p>
        </p:txBody>
      </p:sp>
      <p:sp>
        <p:nvSpPr>
          <p:cNvPr id="6" name="Shape 4"/>
          <p:cNvSpPr/>
          <p:nvPr/>
        </p:nvSpPr>
        <p:spPr>
          <a:xfrm>
            <a:off x="566928" y="2514600"/>
            <a:ext cx="2926080" cy="1188720"/>
          </a:xfrm>
          <a:prstGeom prst="roundRect">
            <a:avLst>
              <a:gd name="adj" fmla="val 6154"/>
            </a:avLst>
          </a:prstGeom>
          <a:solidFill>
            <a:srgbClr val="1E2748"/>
          </a:solidFill>
          <a:ln w="6350">
            <a:solidFill>
              <a:srgbClr val="7C7FF2"/>
            </a:solidFill>
            <a:prstDash val="solid"/>
          </a:ln>
        </p:spPr>
      </p:sp>
      <p:sp>
        <p:nvSpPr>
          <p:cNvPr id="7" name="Text 5"/>
          <p:cNvSpPr/>
          <p:nvPr/>
        </p:nvSpPr>
        <p:spPr>
          <a:xfrm>
            <a:off x="566928" y="2514600"/>
            <a:ext cx="2926080" cy="1188720"/>
          </a:xfrm>
          <a:prstGeom prst="rect">
            <a:avLst/>
          </a:prstGeom>
          <a:noFill/>
          <a:ln/>
        </p:spPr>
        <p:txBody>
          <a:bodyPr wrap="square" rtlCol="0" anchor="ctr"/>
          <a:lstStyle/>
          <a:p>
            <a:pPr algn="ctr" indent="0" marL="0">
              <a:buNone/>
            </a:pPr>
            <a:r>
              <a:rPr lang="en-US" sz="1400" b="1" dirty="0">
                <a:solidFill>
                  <a:srgbClr val="F4F5FF"/>
                </a:solidFill>
                <a:latin typeface="Arial" pitchFamily="34" charset="0"/>
                <a:ea typeface="Arial" pitchFamily="34" charset="-122"/>
                <a:cs typeface="Arial" pitchFamily="34" charset="-120"/>
              </a:rPr>
              <a:t>QUICK PATH</a:t>
            </a:r>
            <a:endParaRPr lang="en-US" sz="1400" dirty="0"/>
          </a:p>
          <a:p>
            <a:pPr algn="ctr" indent="0" marL="0">
              <a:buNone/>
            </a:pPr>
            <a:r>
              <a:rPr lang="en-US" sz="1400" b="1" dirty="0">
                <a:solidFill>
                  <a:srgbClr val="F4F5FF"/>
                </a:solidFill>
                <a:latin typeface="Arial" pitchFamily="34" charset="0"/>
                <a:ea typeface="Arial" pitchFamily="34" charset="-122"/>
                <a:cs typeface="Arial" pitchFamily="34" charset="-120"/>
              </a:rPr>
              <a:t>server-verified FACTS</a:t>
            </a:r>
            <a:endParaRPr lang="en-US" sz="1400" dirty="0"/>
          </a:p>
          <a:p>
            <a:pPr algn="ctr" indent="0" marL="0">
              <a:buNone/>
            </a:pPr>
            <a:r>
              <a:rPr lang="en-US" sz="1400" b="1" dirty="0">
                <a:solidFill>
                  <a:srgbClr val="F4F5FF"/>
                </a:solidFill>
                <a:latin typeface="Arial" pitchFamily="34" charset="0"/>
                <a:ea typeface="Arial" pitchFamily="34" charset="-122"/>
                <a:cs typeface="Arial" pitchFamily="34" charset="-120"/>
              </a:rPr>
              <a:t>+ one Gemini call</a:t>
            </a:r>
            <a:endParaRPr lang="en-US" sz="1400" dirty="0"/>
          </a:p>
        </p:txBody>
      </p:sp>
      <p:sp>
        <p:nvSpPr>
          <p:cNvPr id="8" name="Shape 6"/>
          <p:cNvSpPr/>
          <p:nvPr/>
        </p:nvSpPr>
        <p:spPr>
          <a:xfrm>
            <a:off x="566928" y="4069080"/>
            <a:ext cx="2926080" cy="1188720"/>
          </a:xfrm>
          <a:prstGeom prst="roundRect">
            <a:avLst>
              <a:gd name="adj" fmla="val 6154"/>
            </a:avLst>
          </a:prstGeom>
          <a:solidFill>
            <a:srgbClr val="1E2748"/>
          </a:solidFill>
          <a:ln w="6350">
            <a:solidFill>
              <a:srgbClr val="7C7FF2"/>
            </a:solidFill>
            <a:prstDash val="solid"/>
          </a:ln>
        </p:spPr>
      </p:sp>
      <p:sp>
        <p:nvSpPr>
          <p:cNvPr id="9" name="Text 7"/>
          <p:cNvSpPr/>
          <p:nvPr/>
        </p:nvSpPr>
        <p:spPr>
          <a:xfrm>
            <a:off x="566928" y="4069080"/>
            <a:ext cx="2926080" cy="1188720"/>
          </a:xfrm>
          <a:prstGeom prst="rect">
            <a:avLst/>
          </a:prstGeom>
          <a:noFill/>
          <a:ln/>
        </p:spPr>
        <p:txBody>
          <a:bodyPr wrap="square" rtlCol="0" anchor="ctr"/>
          <a:lstStyle/>
          <a:p>
            <a:pPr algn="ctr" indent="0" marL="0">
              <a:buNone/>
            </a:pPr>
            <a:r>
              <a:rPr lang="en-US" sz="1400" b="1" dirty="0">
                <a:solidFill>
                  <a:srgbClr val="F4F5FF"/>
                </a:solidFill>
                <a:latin typeface="Arial" pitchFamily="34" charset="0"/>
                <a:ea typeface="Arial" pitchFamily="34" charset="-122"/>
                <a:cs typeface="Arial" pitchFamily="34" charset="-120"/>
              </a:rPr>
              <a:t>ADK CONCIERGE</a:t>
            </a:r>
            <a:endParaRPr lang="en-US" sz="1400" dirty="0"/>
          </a:p>
          <a:p>
            <a:pPr algn="ctr" indent="0" marL="0">
              <a:buNone/>
            </a:pPr>
            <a:r>
              <a:rPr lang="en-US" sz="1400" b="1" dirty="0">
                <a:solidFill>
                  <a:srgbClr val="F4F5FF"/>
                </a:solidFill>
                <a:latin typeface="Arial" pitchFamily="34" charset="0"/>
                <a:ea typeface="Arial" pitchFamily="34" charset="-122"/>
                <a:cs typeface="Arial" pitchFamily="34" charset="-120"/>
              </a:rPr>
              <a:t>root router — NO tools</a:t>
            </a:r>
            <a:endParaRPr lang="en-US" sz="1400" dirty="0"/>
          </a:p>
          <a:p>
            <a:pPr algn="ctr" indent="0" marL="0">
              <a:buNone/>
            </a:pPr>
            <a:r>
              <a:rPr lang="en-US" sz="1400" b="1" dirty="0">
                <a:solidFill>
                  <a:srgbClr val="F4F5FF"/>
                </a:solidFill>
                <a:latin typeface="Arial" pitchFamily="34" charset="0"/>
                <a:ea typeface="Arial" pitchFamily="34" charset="-122"/>
                <a:cs typeface="Arial" pitchFamily="34" charset="-120"/>
              </a:rPr>
              <a:t>7 scoped specialists</a:t>
            </a:r>
            <a:endParaRPr lang="en-US" sz="1400" dirty="0"/>
          </a:p>
        </p:txBody>
      </p:sp>
      <p:sp>
        <p:nvSpPr>
          <p:cNvPr id="10" name="Shape 8"/>
          <p:cNvSpPr/>
          <p:nvPr/>
        </p:nvSpPr>
        <p:spPr>
          <a:xfrm>
            <a:off x="4572000" y="3246120"/>
            <a:ext cx="2651760" cy="1280160"/>
          </a:xfrm>
          <a:prstGeom prst="roundRect">
            <a:avLst>
              <a:gd name="adj" fmla="val 5714"/>
            </a:avLst>
          </a:prstGeom>
          <a:solidFill>
            <a:srgbClr val="3A2E12"/>
          </a:solidFill>
          <a:ln w="6350">
            <a:solidFill>
              <a:srgbClr val="7C7FF2"/>
            </a:solidFill>
            <a:prstDash val="solid"/>
          </a:ln>
        </p:spPr>
      </p:sp>
      <p:sp>
        <p:nvSpPr>
          <p:cNvPr id="11" name="Text 9"/>
          <p:cNvSpPr/>
          <p:nvPr/>
        </p:nvSpPr>
        <p:spPr>
          <a:xfrm>
            <a:off x="4572000" y="3246120"/>
            <a:ext cx="2651760" cy="1280160"/>
          </a:xfrm>
          <a:prstGeom prst="rect">
            <a:avLst/>
          </a:prstGeom>
          <a:noFill/>
          <a:ln/>
        </p:spPr>
        <p:txBody>
          <a:bodyPr wrap="square" rtlCol="0" anchor="ctr"/>
          <a:lstStyle/>
          <a:p>
            <a:pPr algn="ctr" indent="0" marL="0">
              <a:buNone/>
            </a:pPr>
            <a:r>
              <a:rPr lang="en-US" sz="1300" b="1" dirty="0">
                <a:solidFill>
                  <a:srgbClr val="F4F5FF"/>
                </a:solidFill>
                <a:latin typeface="Arial" pitchFamily="34" charset="0"/>
                <a:ea typeface="Arial" pitchFamily="34" charset="-122"/>
                <a:cs typeface="Arial" pitchFamily="34" charset="-120"/>
              </a:rPr>
              <a:t>MCP toolbelt</a:t>
            </a:r>
            <a:endParaRPr lang="en-US" sz="1300" dirty="0"/>
          </a:p>
          <a:p>
            <a:pPr algn="ctr" indent="0" marL="0">
              <a:buNone/>
            </a:pPr>
            <a:r>
              <a:rPr lang="en-US" sz="1300" b="1" dirty="0">
                <a:solidFill>
                  <a:srgbClr val="F4F5FF"/>
                </a:solidFill>
                <a:latin typeface="Arial" pitchFamily="34" charset="0"/>
                <a:ea typeface="Arial" pitchFamily="34" charset="-122"/>
                <a:cs typeface="Arial" pitchFamily="34" charset="-120"/>
              </a:rPr>
              <a:t>risk tiers · provenance</a:t>
            </a:r>
            <a:endParaRPr lang="en-US" sz="1300" dirty="0"/>
          </a:p>
          <a:p>
            <a:pPr algn="ctr" indent="0" marL="0">
              <a:buNone/>
            </a:pPr>
            <a:r>
              <a:rPr lang="en-US" sz="1300" b="1" dirty="0">
                <a:solidFill>
                  <a:srgbClr val="F4F5FF"/>
                </a:solidFill>
                <a:latin typeface="Arial" pitchFamily="34" charset="0"/>
                <a:ea typeface="Arial" pitchFamily="34" charset="-122"/>
                <a:cs typeface="Arial" pitchFamily="34" charset="-120"/>
              </a:rPr>
              <a:t>NO payment tool</a:t>
            </a:r>
            <a:endParaRPr lang="en-US" sz="1300" dirty="0"/>
          </a:p>
        </p:txBody>
      </p:sp>
      <p:sp>
        <p:nvSpPr>
          <p:cNvPr id="12" name="Shape 10"/>
          <p:cNvSpPr/>
          <p:nvPr/>
        </p:nvSpPr>
        <p:spPr>
          <a:xfrm>
            <a:off x="8138160" y="3246120"/>
            <a:ext cx="2377440" cy="1280160"/>
          </a:xfrm>
          <a:prstGeom prst="roundRect">
            <a:avLst>
              <a:gd name="adj" fmla="val 5714"/>
            </a:avLst>
          </a:prstGeom>
          <a:solidFill>
            <a:srgbClr val="13251C"/>
          </a:solidFill>
          <a:ln w="6350">
            <a:solidFill>
              <a:srgbClr val="7C7FF2"/>
            </a:solidFill>
            <a:prstDash val="solid"/>
          </a:ln>
        </p:spPr>
      </p:sp>
      <p:sp>
        <p:nvSpPr>
          <p:cNvPr id="13" name="Text 11"/>
          <p:cNvSpPr/>
          <p:nvPr/>
        </p:nvSpPr>
        <p:spPr>
          <a:xfrm>
            <a:off x="8138160" y="3246120"/>
            <a:ext cx="2377440" cy="1280160"/>
          </a:xfrm>
          <a:prstGeom prst="rect">
            <a:avLst/>
          </a:prstGeom>
          <a:noFill/>
          <a:ln/>
        </p:spPr>
        <p:txBody>
          <a:bodyPr wrap="square" rtlCol="0" anchor="ctr"/>
          <a:lstStyle/>
          <a:p>
            <a:pPr algn="ctr" indent="0" marL="0">
              <a:buNone/>
            </a:pPr>
            <a:r>
              <a:rPr lang="en-US" sz="1300" b="1" dirty="0">
                <a:solidFill>
                  <a:srgbClr val="F4F5FF"/>
                </a:solidFill>
                <a:latin typeface="Arial" pitchFamily="34" charset="0"/>
                <a:ea typeface="Arial" pitchFamily="34" charset="-122"/>
                <a:cs typeface="Arial" pitchFamily="34" charset="-120"/>
              </a:rPr>
              <a:t>Supabase</a:t>
            </a:r>
            <a:endParaRPr lang="en-US" sz="1300" dirty="0"/>
          </a:p>
          <a:p>
            <a:pPr algn="ctr" indent="0" marL="0">
              <a:buNone/>
            </a:pPr>
            <a:r>
              <a:rPr lang="en-US" sz="1300" b="1" dirty="0">
                <a:solidFill>
                  <a:srgbClr val="F4F5FF"/>
                </a:solidFill>
                <a:latin typeface="Arial" pitchFamily="34" charset="0"/>
                <a:ea typeface="Arial" pitchFamily="34" charset="-122"/>
                <a:cs typeface="Arial" pitchFamily="34" charset="-120"/>
              </a:rPr>
              <a:t>row-level security</a:t>
            </a:r>
            <a:endParaRPr lang="en-US" sz="1300" dirty="0"/>
          </a:p>
          <a:p>
            <a:pPr algn="ctr" indent="0" marL="0">
              <a:buNone/>
            </a:pPr>
            <a:r>
              <a:rPr lang="en-US" sz="1300" b="1" dirty="0">
                <a:solidFill>
                  <a:srgbClr val="F4F5FF"/>
                </a:solidFill>
                <a:latin typeface="Arial" pitchFamily="34" charset="0"/>
                <a:ea typeface="Arial" pitchFamily="34" charset="-122"/>
                <a:cs typeface="Arial" pitchFamily="34" charset="-120"/>
              </a:rPr>
              <a:t>per-visitor isolation</a:t>
            </a:r>
            <a:endParaRPr lang="en-US" sz="1300" dirty="0"/>
          </a:p>
        </p:txBody>
      </p:sp>
      <p:sp>
        <p:nvSpPr>
          <p:cNvPr id="14" name="Text 12"/>
          <p:cNvSpPr/>
          <p:nvPr/>
        </p:nvSpPr>
        <p:spPr>
          <a:xfrm>
            <a:off x="1847088" y="2121408"/>
            <a:ext cx="365760" cy="411480"/>
          </a:xfrm>
          <a:prstGeom prst="rect">
            <a:avLst/>
          </a:prstGeom>
          <a:noFill/>
          <a:ln/>
        </p:spPr>
        <p:txBody>
          <a:bodyPr wrap="square" rtlCol="0" anchor="ctr"/>
          <a:lstStyle/>
          <a:p>
            <a:pPr algn="ctr" indent="0" marL="0">
              <a:buNone/>
            </a:pPr>
            <a:r>
              <a:rPr lang="en-US" sz="2000" dirty="0">
                <a:solidFill>
                  <a:srgbClr val="7C7FF2"/>
                </a:solidFill>
              </a:rPr>
              <a:t>↓</a:t>
            </a:r>
            <a:endParaRPr lang="en-US" sz="2000" dirty="0"/>
          </a:p>
        </p:txBody>
      </p:sp>
      <p:sp>
        <p:nvSpPr>
          <p:cNvPr id="15" name="Text 13"/>
          <p:cNvSpPr/>
          <p:nvPr/>
        </p:nvSpPr>
        <p:spPr>
          <a:xfrm>
            <a:off x="1847088" y="3675888"/>
            <a:ext cx="365760" cy="411480"/>
          </a:xfrm>
          <a:prstGeom prst="rect">
            <a:avLst/>
          </a:prstGeom>
          <a:noFill/>
          <a:ln/>
        </p:spPr>
        <p:txBody>
          <a:bodyPr wrap="square" rtlCol="0" anchor="ctr"/>
          <a:lstStyle/>
          <a:p>
            <a:pPr algn="ctr" indent="0" marL="0">
              <a:buNone/>
            </a:pPr>
            <a:r>
              <a:rPr lang="en-US" sz="2000" dirty="0">
                <a:solidFill>
                  <a:srgbClr val="7C7FF2"/>
                </a:solidFill>
              </a:rPr>
              <a:t>↓</a:t>
            </a:r>
            <a:endParaRPr lang="en-US" sz="2000" dirty="0"/>
          </a:p>
        </p:txBody>
      </p:sp>
      <p:sp>
        <p:nvSpPr>
          <p:cNvPr id="16" name="Text 14"/>
          <p:cNvSpPr/>
          <p:nvPr/>
        </p:nvSpPr>
        <p:spPr>
          <a:xfrm>
            <a:off x="3657600" y="3429000"/>
            <a:ext cx="777240" cy="914400"/>
          </a:xfrm>
          <a:prstGeom prst="rect">
            <a:avLst/>
          </a:prstGeom>
          <a:noFill/>
          <a:ln/>
        </p:spPr>
        <p:txBody>
          <a:bodyPr wrap="square" rtlCol="0" anchor="ctr"/>
          <a:lstStyle/>
          <a:p>
            <a:pPr algn="ctr" indent="0" marL="0">
              <a:buNone/>
            </a:pPr>
            <a:r>
              <a:rPr lang="en-US" sz="2800" dirty="0">
                <a:solidFill>
                  <a:srgbClr val="7C7FF2"/>
                </a:solidFill>
              </a:rPr>
              <a:t>→</a:t>
            </a:r>
            <a:endParaRPr lang="en-US" sz="2800" dirty="0"/>
          </a:p>
        </p:txBody>
      </p:sp>
      <p:sp>
        <p:nvSpPr>
          <p:cNvPr id="17" name="Text 15"/>
          <p:cNvSpPr/>
          <p:nvPr/>
        </p:nvSpPr>
        <p:spPr>
          <a:xfrm>
            <a:off x="7360920" y="3429000"/>
            <a:ext cx="640080" cy="914400"/>
          </a:xfrm>
          <a:prstGeom prst="rect">
            <a:avLst/>
          </a:prstGeom>
          <a:noFill/>
          <a:ln/>
        </p:spPr>
        <p:txBody>
          <a:bodyPr wrap="square" rtlCol="0" anchor="ctr"/>
          <a:lstStyle/>
          <a:p>
            <a:pPr algn="ctr" indent="0" marL="0">
              <a:buNone/>
            </a:pPr>
            <a:r>
              <a:rPr lang="en-US" sz="2800" dirty="0">
                <a:solidFill>
                  <a:srgbClr val="7C7FF2"/>
                </a:solidFill>
              </a:rPr>
              <a:t>→</a:t>
            </a:r>
            <a:endParaRPr lang="en-US" sz="2800" dirty="0"/>
          </a:p>
        </p:txBody>
      </p:sp>
      <p:sp>
        <p:nvSpPr>
          <p:cNvPr id="18" name="Text 16"/>
          <p:cNvSpPr/>
          <p:nvPr/>
        </p:nvSpPr>
        <p:spPr>
          <a:xfrm>
            <a:off x="566928" y="5623560"/>
            <a:ext cx="11155680" cy="4937760"/>
          </a:xfrm>
          <a:prstGeom prst="rect">
            <a:avLst/>
          </a:prstGeom>
          <a:noFill/>
          <a:ln/>
        </p:spPr>
        <p:txBody>
          <a:bodyPr wrap="square" rtlCol="0" anchor="t"/>
          <a:lstStyle/>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Simple asks: the model reasons over pre-verified facts — it can’t invent a venue</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Action turns: root delegates; the shopping agent literally cannot touch the calendar</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Every write carries a server-side risk tier — destructive ⇒ staged for approval</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indent="0" marL="0">
              <a:buNone/>
            </a:pPr>
            <a:r>
              <a:rPr lang="en-US" sz="1200" b="1" spc="300" kern="0" dirty="0">
                <a:solidFill>
                  <a:srgbClr val="7C7FF2"/>
                </a:solidFill>
                <a:latin typeface="Arial" pitchFamily="34" charset="0"/>
                <a:ea typeface="Arial" pitchFamily="34" charset="-122"/>
                <a:cs typeface="Arial" pitchFamily="34" charset="-120"/>
              </a:rPr>
              <a:t>SAFETY</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indent="0" marL="0">
              <a:buNone/>
            </a:pPr>
            <a:r>
              <a:rPr lang="en-US" sz="3400" b="1" dirty="0">
                <a:solidFill>
                  <a:srgbClr val="F4F5FF"/>
                </a:solidFill>
                <a:latin typeface="Arial" pitchFamily="34" charset="0"/>
                <a:ea typeface="Arial" pitchFamily="34" charset="-122"/>
                <a:cs typeface="Arial" pitchFamily="34" charset="-120"/>
              </a:rPr>
              <a:t>The parent stays the approver</a:t>
            </a:r>
            <a:endParaRPr lang="en-US" sz="3400" dirty="0"/>
          </a:p>
        </p:txBody>
      </p:sp>
      <p:pic>
        <p:nvPicPr>
          <p:cNvPr id="4" name="Image 0" descr="docs/user-guide/11-approvals.png">    </p:cNvPr>
          <p:cNvPicPr>
            <a:picLocks noChangeAspect="1"/>
          </p:cNvPicPr>
          <p:nvPr/>
        </p:nvPicPr>
        <p:blipFill>
          <a:blip r:embed="rId1"/>
          <a:stretch>
            <a:fillRect/>
          </a:stretch>
        </p:blipFill>
        <p:spPr>
          <a:xfrm>
            <a:off x="6400800" y="1737360"/>
            <a:ext cx="5212080" cy="3501801"/>
          </a:xfrm>
          <a:prstGeom prst="rect">
            <a:avLst/>
          </a:prstGeom>
          <a:effectLst>
            <a:outerShdw sx="100000" sy="100000" kx="0" ky="0" algn="bl" rotWithShape="0" blurRad="177800" dist="63500" dir="540000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No-payment invariant — structural, proven by tests</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Risk tiers: auto · confirm · step-up PIN — server-side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Handoffs open the REAL page; never fill, never submit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Provenance gate: only links the agent actually observed</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Scope guard: homework/code/trivia → polite decline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Per-visitor isolation: RLS on every write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indent="0" marL="0">
              <a:buNone/>
            </a:pPr>
            <a:r>
              <a:rPr lang="en-US" sz="1200" b="1" spc="300" kern="0" dirty="0">
                <a:solidFill>
                  <a:srgbClr val="7C7FF2"/>
                </a:solidFill>
                <a:latin typeface="Arial" pitchFamily="34" charset="0"/>
                <a:ea typeface="Arial" pitchFamily="34" charset="-122"/>
                <a:cs typeface="Arial" pitchFamily="34" charset="-120"/>
              </a:rPr>
              <a:t>THE FLAGSHIP</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indent="0" marL="0">
              <a:buNone/>
            </a:pPr>
            <a:r>
              <a:rPr lang="en-US" sz="3400" b="1" dirty="0">
                <a:solidFill>
                  <a:srgbClr val="F4F5FF"/>
                </a:solidFill>
                <a:latin typeface="Arial" pitchFamily="34" charset="0"/>
                <a:ea typeface="Arial" pitchFamily="34" charset="-122"/>
                <a:cs typeface="Arial" pitchFamily="34" charset="-120"/>
              </a:rPr>
              <a:t>The morning agent — proactive, not just reactive</a:t>
            </a:r>
            <a:endParaRPr lang="en-US" sz="3400" dirty="0"/>
          </a:p>
        </p:txBody>
      </p:sp>
      <p:pic>
        <p:nvPicPr>
          <p:cNvPr id="4" name="Image 0" descr="docs/user-guide/04-briefing.png">    </p:cNvPr>
          <p:cNvPicPr>
            <a:picLocks noChangeAspect="1"/>
          </p:cNvPicPr>
          <p:nvPr/>
        </p:nvPicPr>
        <p:blipFill>
          <a:blip r:embed="rId1"/>
          <a:stretch>
            <a:fillRect/>
          </a:stretch>
        </p:blipFill>
        <p:spPr>
          <a:xfrm>
            <a:off x="6400800" y="1737360"/>
            <a:ext cx="5212080" cy="3501801"/>
          </a:xfrm>
          <a:prstGeom prst="rect">
            <a:avLst/>
          </a:prstGeom>
          <a:effectLst>
            <a:outerShdw sx="100000" sy="100000" kx="0" ky="0" algn="bl" rotWithShape="0" blurRad="177800" dist="63500" dir="5400000">
              <a:srgbClr val="000000">
                <a:alpha val="55000"/>
              </a:srgbClr>
            </a:outerShdw>
          </a:effectLst>
        </p:spPr>
      </p:pic>
      <p:sp>
        <p:nvSpPr>
          <p:cNvPr id="5" name="Text 2"/>
          <p:cNvSpPr/>
          <p:nvPr/>
        </p:nvSpPr>
        <p:spPr>
          <a:xfrm>
            <a:off x="566928" y="2103120"/>
            <a:ext cx="5669280" cy="3291840"/>
          </a:xfrm>
          <a:prstGeom prst="rect">
            <a:avLst/>
          </a:prstGeom>
          <a:noFill/>
          <a:ln/>
        </p:spPr>
        <p:txBody>
          <a:bodyPr wrap="square" rtlCol="0" anchor="t"/>
          <a:lstStyle/>
          <a:p>
            <a:pPr indent="0" marL="0">
              <a:buNone/>
            </a:pPr>
            <a:r>
              <a:rPr lang="en-US" sz="1700" b="1" dirty="0">
                <a:solidFill>
                  <a:srgbClr val="7C7FF2"/>
                </a:solidFill>
                <a:latin typeface="Calibri" pitchFamily="34" charset="0"/>
                <a:ea typeface="Calibri" pitchFamily="34" charset="-122"/>
                <a:cs typeface="Calibri" pitchFamily="34" charset="-120"/>
              </a:rPr>
              <a:t>Model proposes. </a:t>
            </a:r>
            <a:pPr indent="0" marL="0">
              <a:buNone/>
            </a:pPr>
            <a:r>
              <a:rPr lang="en-US" sz="1700" dirty="0">
                <a:solidFill>
                  <a:srgbClr val="F4F5FF"/>
                </a:solidFill>
                <a:latin typeface="Calibri" pitchFamily="34" charset="0"/>
                <a:ea typeface="Calibri" pitchFamily="34" charset="-122"/>
                <a:cs typeface="Calibri" pitchFamily="34" charset="-120"/>
              </a:rPr>
              <a:t>Reads today’s facts, proposes up to 3 concrete actions.
</a:t>
            </a:r>
            <a:pPr indent="0" marL="0">
              <a:buNone/>
            </a:pPr>
            <a:r>
              <a:rPr lang="en-US" sz="1700" b="1" dirty="0">
                <a:solidFill>
                  <a:srgbClr val="F2B84B"/>
                </a:solidFill>
                <a:latin typeface="Calibri" pitchFamily="34" charset="0"/>
                <a:ea typeface="Calibri" pitchFamily="34" charset="-122"/>
                <a:cs typeface="Calibri" pitchFamily="34" charset="-120"/>
              </a:rPr>
              <a:t>Code stages. </a:t>
            </a:r>
            <a:pPr indent="0" marL="0">
              <a:buNone/>
            </a:pPr>
            <a:r>
              <a:rPr lang="en-US" sz="1700" dirty="0">
                <a:solidFill>
                  <a:srgbClr val="F4F5FF"/>
                </a:solidFill>
                <a:latin typeface="Calibri" pitchFamily="34" charset="0"/>
                <a:ea typeface="Calibri" pitchFamily="34" charset="-122"/>
                <a:cs typeface="Calibri" pitchFamily="34" charset="-120"/>
              </a:rPr>
              <a:t>Deterministic validation; every draft is confirm-tier.
</a:t>
            </a:r>
            <a:pPr indent="0" marL="0">
              <a:buNone/>
            </a:pPr>
            <a:r>
              <a:rPr lang="en-US" sz="1700" b="1" dirty="0">
                <a:solidFill>
                  <a:srgbClr val="4ADE80"/>
                </a:solidFill>
                <a:latin typeface="Calibri" pitchFamily="34" charset="0"/>
                <a:ea typeface="Calibri" pitchFamily="34" charset="-122"/>
                <a:cs typeface="Calibri" pitchFamily="34" charset="-120"/>
              </a:rPr>
              <a:t>Parent approves. </a:t>
            </a:r>
            <a:pPr indent="0" marL="0">
              <a:buNone/>
            </a:pPr>
            <a:r>
              <a:rPr lang="en-US" sz="1700" dirty="0">
                <a:solidFill>
                  <a:srgbClr val="F4F5FF"/>
                </a:solidFill>
                <a:latin typeface="Calibri" pitchFamily="34" charset="0"/>
                <a:ea typeface="Calibri" pitchFamily="34" charset="-122"/>
                <a:cs typeface="Calibri" pitchFamily="34" charset="-120"/>
              </a:rPr>
              <a:t>Drafts wait in Approvals; a scheduler emails the digest.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indent="0" marL="0">
              <a:buNone/>
            </a:pPr>
            <a:r>
              <a:rPr lang="en-US" sz="1200" b="1" spc="300" kern="0" dirty="0">
                <a:solidFill>
                  <a:srgbClr val="7C7FF2"/>
                </a:solidFill>
                <a:latin typeface="Arial" pitchFamily="34" charset="0"/>
                <a:ea typeface="Arial" pitchFamily="34" charset="-122"/>
                <a:cs typeface="Arial" pitchFamily="34" charset="-120"/>
              </a:rPr>
              <a:t>SAFE FOR AGE 4</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indent="0" marL="0">
              <a:buNone/>
            </a:pPr>
            <a:r>
              <a:rPr lang="en-US" sz="3400" b="1" dirty="0">
                <a:solidFill>
                  <a:srgbClr val="F4F5FF"/>
                </a:solidFill>
                <a:latin typeface="Arial" pitchFamily="34" charset="0"/>
                <a:ea typeface="Arial" pitchFamily="34" charset="-122"/>
                <a:cs typeface="Arial" pitchFamily="34" charset="-120"/>
              </a:rPr>
              <a:t>Kid mode — nothing destructive left to tap</a:t>
            </a:r>
            <a:endParaRPr lang="en-US" sz="3400" dirty="0"/>
          </a:p>
        </p:txBody>
      </p:sp>
      <p:pic>
        <p:nvPicPr>
          <p:cNvPr id="4" name="Image 0" descr="docs/user-guide/14-kidmode-confetti.png">    </p:cNvPr>
          <p:cNvPicPr>
            <a:picLocks noChangeAspect="1"/>
          </p:cNvPicPr>
          <p:nvPr/>
        </p:nvPicPr>
        <p:blipFill>
          <a:blip r:embed="rId1"/>
          <a:stretch>
            <a:fillRect/>
          </a:stretch>
        </p:blipFill>
        <p:spPr>
          <a:xfrm>
            <a:off x="6400800" y="1737360"/>
            <a:ext cx="5212080" cy="3501801"/>
          </a:xfrm>
          <a:prstGeom prst="rect">
            <a:avLst/>
          </a:prstGeom>
          <a:effectLst>
            <a:outerShdw sx="100000" sy="100000" kx="0" ky="0" algn="bl" rotWithShape="0" blurRad="177800" dist="63500" dir="540000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One toggle locks the wall tablet to the kid-safe view</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Picture-first chores, XP + levels, confetti on completion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Delete, settings, approvals — all gone from the screen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Kids can still ask — the worst outcome is a draft for a parent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Exit = 3-second hold + the parent PIN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indent="0" marL="0">
              <a:buNone/>
            </a:pPr>
            <a:r>
              <a:rPr lang="en-US" sz="1200" b="1" spc="300" kern="0" dirty="0">
                <a:solidFill>
                  <a:srgbClr val="7C7FF2"/>
                </a:solidFill>
                <a:latin typeface="Arial" pitchFamily="34" charset="0"/>
                <a:ea typeface="Arial" pitchFamily="34" charset="-122"/>
                <a:cs typeface="Arial" pitchFamily="34" charset="-120"/>
              </a:rPr>
              <a:t>THE BUILD</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indent="0" marL="0">
              <a:buNone/>
            </a:pPr>
            <a:r>
              <a:rPr lang="en-US" sz="3400" b="1" dirty="0">
                <a:solidFill>
                  <a:srgbClr val="F4F5FF"/>
                </a:solidFill>
                <a:latin typeface="Arial" pitchFamily="34" charset="0"/>
                <a:ea typeface="Arial" pitchFamily="34" charset="-122"/>
                <a:cs typeface="Arial" pitchFamily="34" charset="-120"/>
              </a:rPr>
              <a:t>Vibe-coded solo, end to end</a:t>
            </a:r>
            <a:endParaRPr lang="en-US" sz="3400" dirty="0"/>
          </a:p>
        </p:txBody>
      </p:sp>
      <p:sp>
        <p:nvSpPr>
          <p:cNvPr id="4" name="Shape 2"/>
          <p:cNvSpPr/>
          <p:nvPr/>
        </p:nvSpPr>
        <p:spPr>
          <a:xfrm>
            <a:off x="566928" y="1828800"/>
            <a:ext cx="3383280" cy="1554480"/>
          </a:xfrm>
          <a:prstGeom prst="roundRect">
            <a:avLst>
              <a:gd name="adj" fmla="val 4706"/>
            </a:avLst>
          </a:prstGeom>
          <a:solidFill>
            <a:srgbClr val="1E2748"/>
          </a:solidFill>
          <a:ln/>
        </p:spPr>
      </p:sp>
      <p:sp>
        <p:nvSpPr>
          <p:cNvPr id="5" name="Text 3"/>
          <p:cNvSpPr/>
          <p:nvPr/>
        </p:nvSpPr>
        <p:spPr>
          <a:xfrm>
            <a:off x="566928" y="1965960"/>
            <a:ext cx="3383280" cy="457200"/>
          </a:xfrm>
          <a:prstGeom prst="rect">
            <a:avLst/>
          </a:prstGeom>
          <a:noFill/>
          <a:ln/>
        </p:spPr>
        <p:txBody>
          <a:bodyPr wrap="square" rtlCol="0" anchor="ctr"/>
          <a:lstStyle/>
          <a:p>
            <a:pPr algn="ctr" indent="0" marL="0">
              <a:buNone/>
            </a:pPr>
            <a:r>
              <a:rPr lang="en-US" sz="1700" b="1" dirty="0">
                <a:solidFill>
                  <a:srgbClr val="F4F5FF"/>
                </a:solidFill>
                <a:latin typeface="Arial" pitchFamily="34" charset="0"/>
                <a:ea typeface="Arial" pitchFamily="34" charset="-122"/>
                <a:cs typeface="Arial" pitchFamily="34" charset="-120"/>
              </a:rPr>
              <a:t>Google AI Studio</a:t>
            </a:r>
            <a:endParaRPr lang="en-US" sz="1700" dirty="0"/>
          </a:p>
        </p:txBody>
      </p:sp>
      <p:sp>
        <p:nvSpPr>
          <p:cNvPr id="6" name="Text 4"/>
          <p:cNvSpPr/>
          <p:nvPr/>
        </p:nvSpPr>
        <p:spPr>
          <a:xfrm>
            <a:off x="704088" y="2423160"/>
            <a:ext cx="3108960" cy="914400"/>
          </a:xfrm>
          <a:prstGeom prst="rect">
            <a:avLst/>
          </a:prstGeom>
          <a:noFill/>
          <a:ln/>
        </p:spPr>
        <p:txBody>
          <a:bodyPr wrap="square" rtlCol="0" anchor="ctr"/>
          <a:lstStyle/>
          <a:p>
            <a:pPr algn="ctr" indent="0" marL="0">
              <a:buNone/>
            </a:pPr>
            <a:r>
              <a:rPr lang="en-US" sz="1250" dirty="0">
                <a:solidFill>
                  <a:srgbClr val="9AA1C0"/>
                </a:solidFill>
                <a:latin typeface="Calibri" pitchFamily="34" charset="0"/>
                <a:ea typeface="Calibri" pitchFamily="34" charset="-122"/>
                <a:cs typeface="Calibri" pitchFamily="34" charset="-120"/>
              </a:rPr>
              <a:t>origin — the first app + first UI</a:t>
            </a:r>
            <a:endParaRPr lang="en-US" sz="1250" dirty="0"/>
          </a:p>
        </p:txBody>
      </p:sp>
      <p:sp>
        <p:nvSpPr>
          <p:cNvPr id="7" name="Shape 5"/>
          <p:cNvSpPr/>
          <p:nvPr/>
        </p:nvSpPr>
        <p:spPr>
          <a:xfrm>
            <a:off x="4407408" y="1828800"/>
            <a:ext cx="3383280" cy="1554480"/>
          </a:xfrm>
          <a:prstGeom prst="roundRect">
            <a:avLst>
              <a:gd name="adj" fmla="val 4706"/>
            </a:avLst>
          </a:prstGeom>
          <a:solidFill>
            <a:srgbClr val="2A2440"/>
          </a:solidFill>
          <a:ln/>
        </p:spPr>
      </p:sp>
      <p:sp>
        <p:nvSpPr>
          <p:cNvPr id="8" name="Text 6"/>
          <p:cNvSpPr/>
          <p:nvPr/>
        </p:nvSpPr>
        <p:spPr>
          <a:xfrm>
            <a:off x="4407408" y="1965960"/>
            <a:ext cx="3383280" cy="457200"/>
          </a:xfrm>
          <a:prstGeom prst="rect">
            <a:avLst/>
          </a:prstGeom>
          <a:noFill/>
          <a:ln/>
        </p:spPr>
        <p:txBody>
          <a:bodyPr wrap="square" rtlCol="0" anchor="ctr"/>
          <a:lstStyle/>
          <a:p>
            <a:pPr algn="ctr" indent="0" marL="0">
              <a:buNone/>
            </a:pPr>
            <a:r>
              <a:rPr lang="en-US" sz="1700" b="1" dirty="0">
                <a:solidFill>
                  <a:srgbClr val="F4F5FF"/>
                </a:solidFill>
                <a:latin typeface="Arial" pitchFamily="34" charset="0"/>
                <a:ea typeface="Arial" pitchFamily="34" charset="-122"/>
                <a:cs typeface="Arial" pitchFamily="34" charset="-120"/>
              </a:rPr>
              <a:t>Antigravity</a:t>
            </a:r>
            <a:endParaRPr lang="en-US" sz="1700" dirty="0"/>
          </a:p>
        </p:txBody>
      </p:sp>
      <p:sp>
        <p:nvSpPr>
          <p:cNvPr id="9" name="Text 7"/>
          <p:cNvSpPr/>
          <p:nvPr/>
        </p:nvSpPr>
        <p:spPr>
          <a:xfrm>
            <a:off x="4544568" y="2423160"/>
            <a:ext cx="3108960" cy="914400"/>
          </a:xfrm>
          <a:prstGeom prst="rect">
            <a:avLst/>
          </a:prstGeom>
          <a:noFill/>
          <a:ln/>
        </p:spPr>
        <p:txBody>
          <a:bodyPr wrap="square" rtlCol="0" anchor="ctr"/>
          <a:lstStyle/>
          <a:p>
            <a:pPr algn="ctr" indent="0" marL="0">
              <a:buNone/>
            </a:pPr>
            <a:r>
              <a:rPr lang="en-US" sz="1250" dirty="0">
                <a:solidFill>
                  <a:srgbClr val="9AA1C0"/>
                </a:solidFill>
                <a:latin typeface="Calibri" pitchFamily="34" charset="0"/>
                <a:ea typeface="Calibri" pitchFamily="34" charset="-122"/>
                <a:cs typeface="Calibri" pitchFamily="34" charset="-120"/>
              </a:rPr>
              <a:t>early dev pass · later a full UX / accessibility review of the shipped shell</a:t>
            </a:r>
            <a:endParaRPr lang="en-US" sz="1250" dirty="0"/>
          </a:p>
        </p:txBody>
      </p:sp>
      <p:sp>
        <p:nvSpPr>
          <p:cNvPr id="10" name="Shape 8"/>
          <p:cNvSpPr/>
          <p:nvPr/>
        </p:nvSpPr>
        <p:spPr>
          <a:xfrm>
            <a:off x="8247888" y="1828800"/>
            <a:ext cx="3383280" cy="1554480"/>
          </a:xfrm>
          <a:prstGeom prst="roundRect">
            <a:avLst>
              <a:gd name="adj" fmla="val 4706"/>
            </a:avLst>
          </a:prstGeom>
          <a:solidFill>
            <a:srgbClr val="1E3038"/>
          </a:solidFill>
          <a:ln/>
        </p:spPr>
      </p:sp>
      <p:sp>
        <p:nvSpPr>
          <p:cNvPr id="11" name="Text 9"/>
          <p:cNvSpPr/>
          <p:nvPr/>
        </p:nvSpPr>
        <p:spPr>
          <a:xfrm>
            <a:off x="8247888" y="1965960"/>
            <a:ext cx="3383280" cy="457200"/>
          </a:xfrm>
          <a:prstGeom prst="rect">
            <a:avLst/>
          </a:prstGeom>
          <a:noFill/>
          <a:ln/>
        </p:spPr>
        <p:txBody>
          <a:bodyPr wrap="square" rtlCol="0" anchor="ctr"/>
          <a:lstStyle/>
          <a:p>
            <a:pPr algn="ctr" indent="0" marL="0">
              <a:buNone/>
            </a:pPr>
            <a:r>
              <a:rPr lang="en-US" sz="1700" b="1" dirty="0">
                <a:solidFill>
                  <a:srgbClr val="F4F5FF"/>
                </a:solidFill>
                <a:latin typeface="Arial" pitchFamily="34" charset="0"/>
                <a:ea typeface="Arial" pitchFamily="34" charset="-122"/>
                <a:cs typeface="Arial" pitchFamily="34" charset="-120"/>
              </a:rPr>
              <a:t>Claude Code</a:t>
            </a:r>
            <a:endParaRPr lang="en-US" sz="1700" dirty="0"/>
          </a:p>
        </p:txBody>
      </p:sp>
      <p:sp>
        <p:nvSpPr>
          <p:cNvPr id="12" name="Text 10"/>
          <p:cNvSpPr/>
          <p:nvPr/>
        </p:nvSpPr>
        <p:spPr>
          <a:xfrm>
            <a:off x="8385048" y="2423160"/>
            <a:ext cx="3108960" cy="914400"/>
          </a:xfrm>
          <a:prstGeom prst="rect">
            <a:avLst/>
          </a:prstGeom>
          <a:noFill/>
          <a:ln/>
        </p:spPr>
        <p:txBody>
          <a:bodyPr wrap="square" rtlCol="0" anchor="ctr"/>
          <a:lstStyle/>
          <a:p>
            <a:pPr algn="ctr" indent="0" marL="0">
              <a:buNone/>
            </a:pPr>
            <a:r>
              <a:rPr lang="en-US" sz="1250" dirty="0">
                <a:solidFill>
                  <a:srgbClr val="9AA1C0"/>
                </a:solidFill>
                <a:latin typeface="Calibri" pitchFamily="34" charset="0"/>
                <a:ea typeface="Calibri" pitchFamily="34" charset="-122"/>
                <a:cs typeface="Calibri" pitchFamily="34" charset="-120"/>
              </a:rPr>
              <a:t>the main development loop — Gemini as the runtime brain throughout</a:t>
            </a:r>
            <a:endParaRPr lang="en-US" sz="1250" dirty="0"/>
          </a:p>
        </p:txBody>
      </p:sp>
      <p:sp>
        <p:nvSpPr>
          <p:cNvPr id="13" name="Text 11"/>
          <p:cNvSpPr/>
          <p:nvPr/>
        </p:nvSpPr>
        <p:spPr>
          <a:xfrm>
            <a:off x="566928" y="3931920"/>
            <a:ext cx="11064240" cy="822960"/>
          </a:xfrm>
          <a:prstGeom prst="rect">
            <a:avLst/>
          </a:prstGeom>
          <a:noFill/>
          <a:ln/>
        </p:spPr>
        <p:txBody>
          <a:bodyPr wrap="square" rtlCol="0" anchor="ctr"/>
          <a:lstStyle/>
          <a:p>
            <a:pPr algn="ctr" indent="0" marL="0">
              <a:buNone/>
            </a:pPr>
            <a:r>
              <a:rPr lang="en-US" sz="1700" i="1" dirty="0">
                <a:solidFill>
                  <a:srgbClr val="F2B84B"/>
                </a:solidFill>
                <a:latin typeface="Calibri" pitchFamily="34" charset="0"/>
                <a:ea typeface="Calibri" pitchFamily="34" charset="-122"/>
                <a:cs typeface="Calibri" pitchFamily="34" charset="-120"/>
              </a:rPr>
              <a:t>The eval suite ATTACKS the agent: payment requests, prompt injection in web pages and documents — safety invariants pinned as tests.</a:t>
            </a:r>
            <a:endParaRPr lang="en-US" sz="1700" dirty="0"/>
          </a:p>
        </p:txBody>
      </p:sp>
      <p:sp>
        <p:nvSpPr>
          <p:cNvPr id="14" name="Text 12"/>
          <p:cNvSpPr/>
          <p:nvPr/>
        </p:nvSpPr>
        <p:spPr>
          <a:xfrm>
            <a:off x="566928" y="4846320"/>
            <a:ext cx="11064240" cy="548640"/>
          </a:xfrm>
          <a:prstGeom prst="rect">
            <a:avLst/>
          </a:prstGeom>
          <a:noFill/>
          <a:ln/>
        </p:spPr>
        <p:txBody>
          <a:bodyPr wrap="square" rtlCol="0" anchor="ctr"/>
          <a:lstStyle/>
          <a:p>
            <a:pPr algn="ctr" indent="0" marL="0">
              <a:buNone/>
            </a:pPr>
            <a:r>
              <a:rPr lang="en-US" sz="1500" dirty="0">
                <a:solidFill>
                  <a:srgbClr val="9AA1C0"/>
                </a:solidFill>
                <a:latin typeface="Calibri" pitchFamily="34" charset="0"/>
                <a:ea typeface="Calibri" pitchFamily="34" charset="-122"/>
                <a:cs typeface="Calibri" pitchFamily="34" charset="-120"/>
              </a:rPr>
              <a:t>925 frontend tests · 30 agent tests · deployable three ways: Cloud Run, docker compose, Raspberry Pi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48640" y="822960"/>
            <a:ext cx="11064240" cy="914400"/>
          </a:xfrm>
          <a:prstGeom prst="rect">
            <a:avLst/>
          </a:prstGeom>
          <a:noFill/>
          <a:ln/>
        </p:spPr>
        <p:txBody>
          <a:bodyPr wrap="square" rtlCol="0" anchor="ctr"/>
          <a:lstStyle/>
          <a:p>
            <a:pPr algn="ctr" indent="0" marL="0">
              <a:buNone/>
            </a:pPr>
            <a:r>
              <a:rPr lang="en-US" sz="4400" b="1" dirty="0">
                <a:solidFill>
                  <a:srgbClr val="F4F5FF"/>
                </a:solidFill>
                <a:latin typeface="Arial" pitchFamily="34" charset="0"/>
                <a:ea typeface="Arial" pitchFamily="34" charset="-122"/>
                <a:cs typeface="Arial" pitchFamily="34" charset="-120"/>
              </a:rPr>
              <a:t>Let’s drive it.</a:t>
            </a:r>
            <a:endParaRPr lang="en-US" sz="4400" dirty="0"/>
          </a:p>
        </p:txBody>
      </p:sp>
      <p:sp>
        <p:nvSpPr>
          <p:cNvPr id="3" name="Text 1"/>
          <p:cNvSpPr/>
          <p:nvPr/>
        </p:nvSpPr>
        <p:spPr>
          <a:xfrm>
            <a:off x="548640" y="1783080"/>
            <a:ext cx="11064240" cy="457200"/>
          </a:xfrm>
          <a:prstGeom prst="rect">
            <a:avLst/>
          </a:prstGeom>
          <a:noFill/>
          <a:ln/>
        </p:spPr>
        <p:txBody>
          <a:bodyPr wrap="square" rtlCol="0" anchor="ctr"/>
          <a:lstStyle/>
          <a:p>
            <a:pPr algn="ctr" indent="0" marL="0">
              <a:buNone/>
            </a:pPr>
            <a:r>
              <a:rPr lang="en-US" sz="1700" dirty="0">
                <a:solidFill>
                  <a:srgbClr val="7C7FF2"/>
                </a:solidFill>
                <a:latin typeface="Calibri" pitchFamily="34" charset="0"/>
                <a:ea typeface="Calibri" pitchFamily="34" charset="-122"/>
                <a:cs typeface="Calibri" pitchFamily="34" charset="-120"/>
              </a:rPr>
              <a:t>family-hub-web-420776046740.us-central1.run.app  ·  Try the demo — no sign-in</a:t>
            </a:r>
            <a:endParaRPr lang="en-US" sz="1700" dirty="0"/>
          </a:p>
        </p:txBody>
      </p:sp>
      <p:sp>
        <p:nvSpPr>
          <p:cNvPr id="4" name="Text 2"/>
          <p:cNvSpPr/>
          <p:nvPr/>
        </p:nvSpPr>
        <p:spPr>
          <a:xfrm>
            <a:off x="1463040" y="2514600"/>
            <a:ext cx="9326880" cy="3840480"/>
          </a:xfrm>
          <a:prstGeom prst="rect">
            <a:avLst/>
          </a:prstGeom>
          <a:noFill/>
          <a:ln/>
        </p:spPr>
        <p:txBody>
          <a:bodyPr wrap="square" rtlCol="0" anchor="t"/>
          <a:lstStyle/>
          <a:p>
            <a:pPr indent="0" marL="0">
              <a:spcAft>
                <a:spcPts val="900"/>
              </a:spcAft>
              <a:buNone/>
            </a:pPr>
            <a:r>
              <a:rPr lang="en-US" sz="1650" dirty="0">
                <a:solidFill>
                  <a:srgbClr val="F4F5FF"/>
                </a:solidFill>
                <a:latin typeface="Calibri" pitchFamily="34" charset="0"/>
                <a:ea typeface="Calibri" pitchFamily="34" charset="-122"/>
                <a:cs typeface="Calibri" pitchFamily="34" charset="-120"/>
              </a:rPr>
              <a:t>①  Try the demo → an isolated, seeded household (production RLS, anonymous auth)</a:t>
            </a:r>
            <a:endParaRPr lang="en-US" sz="1650" dirty="0"/>
          </a:p>
          <a:p>
            <a:pPr indent="0" marL="0">
              <a:spcAft>
                <a:spcPts val="900"/>
              </a:spcAft>
              <a:buNone/>
            </a:pPr>
            <a:r>
              <a:rPr lang="en-US" sz="1650" dirty="0">
                <a:solidFill>
                  <a:srgbClr val="F4F5FF"/>
                </a:solidFill>
                <a:latin typeface="Calibri" pitchFamily="34" charset="0"/>
                <a:ea typeface="Calibri" pitchFamily="34" charset="-122"/>
                <a:cs typeface="Calibri" pitchFamily="34" charset="-120"/>
              </a:rPr>
              <a:t>②  ☀️ Preview today’s briefing → planner proposals → Stage drafts → Approvals</a:t>
            </a:r>
            <a:endParaRPr lang="en-US" sz="1650" dirty="0"/>
          </a:p>
          <a:p>
            <a:pPr indent="0" marL="0">
              <a:spcAft>
                <a:spcPts val="900"/>
              </a:spcAft>
              <a:buNone/>
            </a:pPr>
            <a:r>
              <a:rPr lang="en-US" sz="1650" dirty="0">
                <a:solidFill>
                  <a:srgbClr val="F4F5FF"/>
                </a:solidFill>
                <a:latin typeface="Calibri" pitchFamily="34" charset="0"/>
                <a:ea typeface="Calibri" pitchFamily="34" charset="-122"/>
                <a:cs typeface="Calibri" pitchFamily="34" charset="-120"/>
              </a:rPr>
              <a:t>③  “Plan a Mount Rainier day trip next weekend, track it as a goal” → goal strip + verified handoff</a:t>
            </a:r>
            <a:endParaRPr lang="en-US" sz="1650" dirty="0"/>
          </a:p>
          <a:p>
            <a:pPr indent="0" marL="0">
              <a:spcAft>
                <a:spcPts val="900"/>
              </a:spcAft>
              <a:buNone/>
            </a:pPr>
            <a:r>
              <a:rPr lang="en-US" sz="1650" dirty="0">
                <a:solidFill>
                  <a:srgbClr val="F4F5FF"/>
                </a:solidFill>
                <a:latin typeface="Calibri" pitchFamily="34" charset="0"/>
                <a:ea typeface="Calibri" pitchFamily="34" charset="-122"/>
                <a:cs typeface="Calibri" pitchFamily="34" charset="-120"/>
              </a:rPr>
              <a:t>④  “Buy the tickets and pay with our card” → the refusal — no tool it could call</a:t>
            </a:r>
            <a:endParaRPr lang="en-US" sz="1650" dirty="0"/>
          </a:p>
          <a:p>
            <a:pPr indent="0" marL="0">
              <a:spcAft>
                <a:spcPts val="900"/>
              </a:spcAft>
              <a:buNone/>
            </a:pPr>
            <a:r>
              <a:rPr lang="en-US" sz="1650" dirty="0">
                <a:solidFill>
                  <a:srgbClr val="F4F5FF"/>
                </a:solidFill>
                <a:latin typeface="Calibri" pitchFamily="34" charset="0"/>
                <a:ea typeface="Calibri" pitchFamily="34" charset="-122"/>
                <a:cs typeface="Calibri" pitchFamily="34" charset="-120"/>
              </a:rPr>
              <a:t>⑤  “Add a chore for Max to water the plants tomorrow morning” → Chores tab</a:t>
            </a:r>
            <a:endParaRPr lang="en-US" sz="1650" dirty="0"/>
          </a:p>
          <a:p>
            <a:pPr indent="0" marL="0">
              <a:spcAft>
                <a:spcPts val="900"/>
              </a:spcAft>
              <a:buNone/>
            </a:pPr>
            <a:r>
              <a:rPr lang="en-US" sz="1650" dirty="0">
                <a:solidFill>
                  <a:srgbClr val="F4F5FF"/>
                </a:solidFill>
                <a:latin typeface="Calibri" pitchFamily="34" charset="0"/>
                <a:ea typeface="Calibri" pitchFamily="34" charset="-122"/>
                <a:cs typeface="Calibri" pitchFamily="34" charset="-120"/>
              </a:rPr>
              <a:t>⑥  Manage → Kid mode ON → tap a chore → confetti → hold 🔒 to exit</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2026-07-05T03:37:46Z</dcterms:created>
  <dcterms:modified xsi:type="dcterms:W3CDTF">2026-07-05T03:37:46Z</dcterms:modified>
</cp:coreProperties>
</file>