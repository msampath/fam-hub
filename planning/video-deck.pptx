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582" autoAdjust="0"/>
  </p:normalViewPr>
  <p:slideViewPr>
    <p:cSldViewPr snapToGrid="0" snapToObjects="1">
      <p:cViewPr varScale="1">
        <p:scale>
          <a:sx n="147" d="100"/>
          <a:sy n="147" d="100"/>
        </p:scale>
        <p:origin x="792" y="1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5777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This is Family-Hub — an agent that runs our household. It plans the weekend, assigns the chores, watches the bills, and does the booking legwork. Running a family is a coordination job nobody applied for — and the reason we don't hand it to an AI is trust. So I built the trust first with sensible security architecture and a setup that puts the human/adult back in the loop to make final decisions including but especially around purchase and spending money that the AI is structurally prevented from doing here.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The valuable work isn't answering questions — it's multi-step: research pass rules on the live web, check our calendar, draft the itinerary, find the real booking page and gather what its form will ask. That takes an agent that chooses tools and keeps going. But every capability is also blast radius — so the architecture is a safety stack with an agent inside.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One copilot, two engines. Simple asks run a deterministic harness — the server pre-fetches verified facts: availability, weather, real venues with drive times — and the model reasons over THOSE, so it can't invent a place. Action turns go to an ADK multi-agent concierge: a root router with no tools of its own, delegating to seven specialists, each MCP-filtered to its own slice — the shopping agent literally cannot touch the calendar. Every write carries a server-side risk tier: reversible creates auto-apply, everything destructive stages into Approvals — and there is NO payment tool to call. That invariant is enforced in the MCP layer and proven by tests, not promised by a prompt.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1:10. Two review surfaces, one principle: the adult stays in charge. APPROVALS is everything the copilot will only do once you say yes - the morning agent's proposals, deletes, event suggestions: approve, modify, or dismiss. ACTIONS is the legwork it hands YOU to finish - booking handoffs that open the venue's real page with the details the form will ask for listed beside it. It never fills the form and never pays. And the whole thing stays in its lane: ask it for homework help and it politely declines.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Closed-app, every morning, a scheduler runs this planner: grounded in today's facts it PROPOSES — a gift for the birthday it sees, the next step of a goal it's tracking — and deterministic code stages the proposals as confirm-tier drafts. Model proposes, code stages, parent approves.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 The wall tablet is the kid surface. One toggle: picture-first chores for a four-year-old, confetti on completion — and every destructive tap is gone. The ask-box stays, because the worst a kid's request can do is stage a draft for a parent.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 Built solo, vibe-coded end to end. It started life as a Google AI Studio app; Antigravity ran an early dev pass — and here it is later reviewing the shipped dark-mode shell for UX and accessibility [SHOW THE JUN 24 ANTIGRAVITY SESSION]. The main loop ran in Claude Code with Gemini as the runtime brain the whole way. The eval suite does something rare for agent demos: it attacks the agent — and pins the safety invariants as tests.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 to ~5:00 — LIVE DEMO, fresh incognito window, pre-warmed demo. Follow the six beats on this slide in order; they are the README Golden Path. Close over the Today page: "Family-Hub. A multi-agent concierge with the safety story first — and a four-year-old-safe front end. The link's below — ask it for your weekend."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5425" y="1524000"/>
            <a:ext cx="7308850" cy="4113213"/>
          </a:xfrm>
          <a:prstGeom prst="rect">
            <a:avLst/>
          </a:prstGeom>
          <a:noFill/>
          <a:ln w="12700">
            <a:solidFill>
              <a:prstClr val="black"/>
            </a:solidFill>
          </a:ln>
        </p:spPr>
      </p:sp>
      <p:sp>
        <p:nvSpPr>
          <p:cNvPr id="3" name="Notes Placeholder 2"/>
          <p:cNvSpPr>
            <a:spLocks noGrp="1"/>
          </p:cNvSpPr>
          <p:nvPr>
            <p:ph type="body" idx="1"/>
          </p:nvPr>
        </p:nvSpPr>
        <p:spPr>
          <a:xfrm>
            <a:off x="685800" y="5865813"/>
            <a:ext cx="5486400" cy="4799012"/>
          </a:xfrm>
          <a:prstGeom prst="rect">
            <a:avLst/>
          </a:prstGeom>
        </p:spPr>
        <p:txBody>
          <a:bodyPr/>
          <a:lstStyle/>
          <a:p>
            <a:r>
              <a:rPr lang="en-US"/>
              <a:t>4:50. What's next keeps the same safety spine: real Kroger carts - their API literally has no payment endpoint, so the invariant holds by contract; a fully local, zero-dollar private mode; and deeper proactivity - every new capability still lands behind the same approval gate. Family-Hub. Ask it for your weekend.</a:t>
            </a:r>
          </a:p>
        </p:txBody>
      </p:sp>
    </p:spTree>
    <p:extLst>
      <p:ext uri="{BB962C8B-B14F-4D97-AF65-F5344CB8AC3E}">
        <p14:creationId xmlns:p14="http://schemas.microsoft.com/office/powerpoint/2010/main" val="1506119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A"/>
        </a:solidFill>
        <a:effectLst/>
      </p:bgPr>
    </p:bg>
    <p:spTree>
      <p:nvGrpSpPr>
        <p:cNvPr id="1" name=""/>
        <p:cNvGrpSpPr/>
        <p:nvPr/>
      </p:nvGrpSpPr>
      <p:grpSpPr>
        <a:xfrm>
          <a:off x="0" y="0"/>
          <a:ext cx="0" cy="0"/>
          <a:chOff x="0" y="0"/>
          <a:chExt cx="0" cy="0"/>
        </a:xfrm>
      </p:grpSpPr>
      <p:pic>
        <p:nvPicPr>
          <p:cNvPr id="2" name="Image 0" descr="docs/kaggle-cover.png"/>
          <p:cNvPicPr>
            <a:picLocks noChangeAspect="1"/>
          </p:cNvPicPr>
          <p:nvPr/>
        </p:nvPicPr>
        <p:blipFill>
          <a:blip r:embed="rId3"/>
          <a:srcRect/>
          <a:stretch/>
        </p:blipFill>
        <p:spPr>
          <a:xfrm>
            <a:off x="6126480" y="0"/>
            <a:ext cx="6062472" cy="6858000"/>
          </a:xfrm>
          <a:prstGeom prst="rect">
            <a:avLst/>
          </a:prstGeom>
        </p:spPr>
      </p:pic>
      <p:sp>
        <p:nvSpPr>
          <p:cNvPr id="3" name="Shape 0"/>
          <p:cNvSpPr/>
          <p:nvPr/>
        </p:nvSpPr>
        <p:spPr>
          <a:xfrm>
            <a:off x="6126480" y="0"/>
            <a:ext cx="6062472" cy="6858000"/>
          </a:xfrm>
          <a:prstGeom prst="rect">
            <a:avLst/>
          </a:prstGeom>
          <a:solidFill>
            <a:srgbClr val="0B0F1A">
              <a:alpha val="55000"/>
            </a:srgbClr>
          </a:solidFill>
          <a:ln/>
        </p:spPr>
      </p:sp>
      <p:sp>
        <p:nvSpPr>
          <p:cNvPr id="4" name="Text 1"/>
          <p:cNvSpPr/>
          <p:nvPr/>
        </p:nvSpPr>
        <p:spPr>
          <a:xfrm>
            <a:off x="548640" y="1920240"/>
            <a:ext cx="5486400" cy="1005840"/>
          </a:xfrm>
          <a:prstGeom prst="rect">
            <a:avLst/>
          </a:prstGeom>
          <a:noFill/>
          <a:ln/>
        </p:spPr>
        <p:txBody>
          <a:bodyPr wrap="square" rtlCol="0" anchor="ctr"/>
          <a:lstStyle/>
          <a:p>
            <a:pPr marL="0" indent="0">
              <a:buNone/>
            </a:pPr>
            <a:r>
              <a:rPr lang="en-US" sz="5400" b="1" dirty="0">
                <a:solidFill>
                  <a:srgbClr val="F4F5FF"/>
                </a:solidFill>
                <a:latin typeface="Arial" pitchFamily="34" charset="0"/>
                <a:ea typeface="Arial" pitchFamily="34" charset="-122"/>
                <a:cs typeface="Arial" pitchFamily="34" charset="-120"/>
              </a:rPr>
              <a:t>Family-Hub</a:t>
            </a:r>
            <a:endParaRPr lang="en-US" sz="5400" dirty="0"/>
          </a:p>
        </p:txBody>
      </p:sp>
      <p:sp>
        <p:nvSpPr>
          <p:cNvPr id="5" name="Text 2"/>
          <p:cNvSpPr/>
          <p:nvPr/>
        </p:nvSpPr>
        <p:spPr>
          <a:xfrm>
            <a:off x="566928" y="2926080"/>
            <a:ext cx="5394960" cy="640080"/>
          </a:xfrm>
          <a:prstGeom prst="rect">
            <a:avLst/>
          </a:prstGeom>
          <a:noFill/>
          <a:ln/>
        </p:spPr>
        <p:txBody>
          <a:bodyPr wrap="square" rtlCol="0" anchor="ctr"/>
          <a:lstStyle/>
          <a:p>
            <a:pPr marL="0" indent="0">
              <a:buNone/>
            </a:pPr>
            <a:r>
              <a:rPr lang="en-US" sz="2200" i="1" dirty="0">
                <a:solidFill>
                  <a:srgbClr val="9AA1C0"/>
                </a:solidFill>
                <a:latin typeface="Calibri" pitchFamily="34" charset="0"/>
                <a:ea typeface="Calibri" pitchFamily="34" charset="-122"/>
                <a:cs typeface="Calibri" pitchFamily="34" charset="-120"/>
              </a:rPr>
              <a:t>An agent that helps plan then runs your family’s week.</a:t>
            </a:r>
            <a:endParaRPr lang="en-US" sz="2200" dirty="0"/>
          </a:p>
        </p:txBody>
      </p:sp>
      <p:sp>
        <p:nvSpPr>
          <p:cNvPr id="6" name="Text 3"/>
          <p:cNvSpPr/>
          <p:nvPr/>
        </p:nvSpPr>
        <p:spPr>
          <a:xfrm>
            <a:off x="566928" y="3794760"/>
            <a:ext cx="5394960" cy="1097280"/>
          </a:xfrm>
          <a:prstGeom prst="rect">
            <a:avLst/>
          </a:prstGeom>
          <a:noFill/>
          <a:ln/>
        </p:spPr>
        <p:txBody>
          <a:bodyPr wrap="square" rtlCol="0" anchor="ctr"/>
          <a:lstStyle/>
          <a:p>
            <a:pPr marL="0" indent="0">
              <a:buNone/>
            </a:pPr>
            <a:endParaRPr lang="en-US" sz="2600" dirty="0"/>
          </a:p>
        </p:txBody>
      </p:sp>
      <p:sp>
        <p:nvSpPr>
          <p:cNvPr id="7" name="Text 4"/>
          <p:cNvSpPr/>
          <p:nvPr/>
        </p:nvSpPr>
        <p:spPr>
          <a:xfrm>
            <a:off x="566928" y="6035040"/>
            <a:ext cx="5394960" cy="365760"/>
          </a:xfrm>
          <a:prstGeom prst="rect">
            <a:avLst/>
          </a:prstGeom>
          <a:noFill/>
          <a:ln/>
        </p:spPr>
        <p:txBody>
          <a:bodyPr wrap="square" rtlCol="0" anchor="ctr"/>
          <a:lstStyle/>
          <a:p>
            <a:pPr marL="0" indent="0">
              <a:buNone/>
            </a:pPr>
            <a:r>
              <a:rPr lang="en-US" sz="1300" dirty="0">
                <a:solidFill>
                  <a:srgbClr val="9AA1C0"/>
                </a:solidFill>
                <a:latin typeface="Calibri" pitchFamily="34" charset="0"/>
                <a:ea typeface="Calibri" pitchFamily="34" charset="-122"/>
                <a:cs typeface="Calibri" pitchFamily="34" charset="-120"/>
              </a:rPr>
              <a:t>Kaggle AI Agents Capstone · Concierge track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66928" y="109728"/>
            <a:ext cx="9144000" cy="320040"/>
          </a:xfrm>
          <a:prstGeom prst="rect">
            <a:avLst/>
          </a:prstGeom>
          <a:noFill/>
          <a:ln/>
        </p:spPr>
        <p:txBody>
          <a:bodyPr wrap="square" rtlCol="0" anchor="ctr"/>
          <a:lstStyle/>
          <a:p>
            <a:pPr marL="0" indent="0">
              <a:buNone/>
            </a:pPr>
            <a:r>
              <a:rPr lang="en-US" sz="1200" b="1" kern="0" spc="300" dirty="0">
                <a:solidFill>
                  <a:srgbClr val="7C7FF2"/>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548640" y="411480"/>
            <a:ext cx="11064240" cy="777240"/>
          </a:xfrm>
          <a:prstGeom prst="rect">
            <a:avLst/>
          </a:prstGeom>
          <a:noFill/>
          <a:ln/>
        </p:spPr>
        <p:txBody>
          <a:bodyPr wrap="square" rtlCol="0" anchor="ctr"/>
          <a:lstStyle/>
          <a:p>
            <a:pPr marL="0" indent="0">
              <a:buNone/>
            </a:pPr>
            <a:r>
              <a:rPr lang="en-US" sz="3400" b="1" dirty="0">
                <a:solidFill>
                  <a:srgbClr val="F4F5FF"/>
                </a:solidFill>
                <a:latin typeface="Arial" pitchFamily="34" charset="0"/>
                <a:ea typeface="Arial" pitchFamily="34" charset="-122"/>
                <a:cs typeface="Arial" pitchFamily="34" charset="-120"/>
              </a:rPr>
              <a:t>The valuable work is multi-step — that takes an agent</a:t>
            </a:r>
            <a:endParaRPr lang="en-US" sz="3400" dirty="0"/>
          </a:p>
        </p:txBody>
      </p:sp>
      <p:pic>
        <p:nvPicPr>
          <p:cNvPr id="4" name="Image 0" descr="docs/user-guide/02-today.png"/>
          <p:cNvPicPr>
            <a:picLocks noChangeAspect="1"/>
          </p:cNvPicPr>
          <p:nvPr/>
        </p:nvPicPr>
        <p:blipFill>
          <a:blip r:embed="rId3"/>
          <a:stretch>
            <a:fillRect/>
          </a:stretch>
        </p:blipFill>
        <p:spPr>
          <a:xfrm>
            <a:off x="6400800" y="1737360"/>
            <a:ext cx="5212080" cy="3501801"/>
          </a:xfrm>
          <a:prstGeom prst="rect">
            <a:avLst/>
          </a:prstGeom>
          <a:effectLst>
            <a:outerShdw blurRad="177800" dist="63500" dir="5400000" algn="bl" rotWithShape="0">
              <a:srgbClr val="000000">
                <a:alpha val="55000"/>
              </a:srgbClr>
            </a:outerShdw>
          </a:effectLst>
        </p:spPr>
      </p:pic>
      <p:sp>
        <p:nvSpPr>
          <p:cNvPr id="5" name="Text 2"/>
          <p:cNvSpPr/>
          <p:nvPr/>
        </p:nvSpPr>
        <p:spPr>
          <a:xfrm>
            <a:off x="566928" y="2011680"/>
            <a:ext cx="5577840" cy="4937760"/>
          </a:xfrm>
          <a:prstGeom prst="rect">
            <a:avLst/>
          </a:prstGeom>
          <a:noFill/>
          <a:ln/>
        </p:spPr>
        <p:txBody>
          <a:bodyPr wrap="square" rtlCol="0" anchor="t"/>
          <a:lstStyle/>
          <a:p>
            <a:pPr marL="177800" indent="-177800">
              <a:spcAft>
                <a:spcPts val="800"/>
              </a:spcAft>
              <a:buSzPct val="100000"/>
              <a:buChar char="•"/>
            </a:pPr>
            <a:r>
              <a:rPr lang="en-US" sz="1700" dirty="0">
                <a:solidFill>
                  <a:srgbClr val="F4F5FF"/>
                </a:solidFill>
                <a:latin typeface="Calibri" pitchFamily="34" charset="0"/>
                <a:ea typeface="Calibri" pitchFamily="34" charset="-122"/>
                <a:cs typeface="Calibri" pitchFamily="34" charset="-120"/>
              </a:rPr>
              <a:t>Research a national park’s pass rules on the live web for an outing</a:t>
            </a:r>
            <a:endParaRPr lang="en-US" sz="1700" dirty="0"/>
          </a:p>
          <a:p>
            <a:pPr marL="177800" indent="-177800">
              <a:spcAft>
                <a:spcPts val="800"/>
              </a:spcAft>
              <a:buSzPct val="100000"/>
              <a:buChar char="•"/>
            </a:pPr>
            <a:r>
              <a:rPr lang="en-US" sz="1700" dirty="0">
                <a:solidFill>
                  <a:srgbClr val="F4F5FF"/>
                </a:solidFill>
                <a:latin typeface="Calibri" pitchFamily="34" charset="0"/>
                <a:ea typeface="Calibri" pitchFamily="34" charset="-122"/>
                <a:cs typeface="Calibri" pitchFamily="34" charset="-120"/>
              </a:rPr>
              <a:t>Check the family calendar and the weather</a:t>
            </a:r>
            <a:endParaRPr lang="en-US" sz="1700" dirty="0"/>
          </a:p>
          <a:p>
            <a:pPr marL="177800" indent="-177800">
              <a:spcAft>
                <a:spcPts val="800"/>
              </a:spcAft>
              <a:buSzPct val="100000"/>
              <a:buChar char="•"/>
            </a:pPr>
            <a:r>
              <a:rPr lang="en-US" sz="1700" dirty="0">
                <a:solidFill>
                  <a:srgbClr val="F4F5FF"/>
                </a:solidFill>
                <a:latin typeface="Calibri" pitchFamily="34" charset="0"/>
                <a:ea typeface="Calibri" pitchFamily="34" charset="-122"/>
                <a:cs typeface="Calibri" pitchFamily="34" charset="-120"/>
              </a:rPr>
              <a:t>Draft the itinerary, find the real booking page</a:t>
            </a:r>
            <a:endParaRPr lang="en-US" sz="1700" dirty="0"/>
          </a:p>
          <a:p>
            <a:pPr marL="177800" indent="-177800">
              <a:spcAft>
                <a:spcPts val="800"/>
              </a:spcAft>
              <a:buSzPct val="100000"/>
              <a:buChar char="•"/>
            </a:pPr>
            <a:r>
              <a:rPr lang="en-US" sz="1700" dirty="0">
                <a:solidFill>
                  <a:srgbClr val="F4F5FF"/>
                </a:solidFill>
                <a:latin typeface="Calibri" pitchFamily="34" charset="0"/>
                <a:ea typeface="Calibri" pitchFamily="34" charset="-122"/>
                <a:cs typeface="Calibri" pitchFamily="34" charset="-120"/>
              </a:rPr>
              <a:t>Gather what the form will ask — before you ever see it</a:t>
            </a:r>
            <a:endParaRPr lang="en-US" sz="1700" dirty="0"/>
          </a:p>
        </p:txBody>
      </p:sp>
      <p:sp>
        <p:nvSpPr>
          <p:cNvPr id="6" name="Text 3"/>
          <p:cNvSpPr/>
          <p:nvPr/>
        </p:nvSpPr>
        <p:spPr>
          <a:xfrm>
            <a:off x="566928" y="4480560"/>
            <a:ext cx="5486400" cy="1097280"/>
          </a:xfrm>
          <a:prstGeom prst="rect">
            <a:avLst/>
          </a:prstGeom>
          <a:noFill/>
          <a:ln/>
        </p:spPr>
        <p:txBody>
          <a:bodyPr wrap="square" rtlCol="0" anchor="ctr"/>
          <a:lstStyle/>
          <a:p>
            <a:pPr marL="0" indent="0">
              <a:buNone/>
            </a:pPr>
            <a:r>
              <a:rPr lang="en-US" sz="1700" i="1" dirty="0">
                <a:solidFill>
                  <a:srgbClr val="F2B84B"/>
                </a:solidFill>
                <a:latin typeface="Calibri" pitchFamily="34" charset="0"/>
                <a:ea typeface="Calibri" pitchFamily="34" charset="-122"/>
                <a:cs typeface="Calibri" pitchFamily="34" charset="-120"/>
              </a:rPr>
              <a:t>Every capability is also blast radius — so the architecture is a safety stack with an agent inside.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66928" y="109728"/>
            <a:ext cx="9144000" cy="320040"/>
          </a:xfrm>
          <a:prstGeom prst="rect">
            <a:avLst/>
          </a:prstGeom>
          <a:noFill/>
          <a:ln/>
        </p:spPr>
        <p:txBody>
          <a:bodyPr wrap="square" rtlCol="0" anchor="ctr"/>
          <a:lstStyle/>
          <a:p>
            <a:pPr marL="0" indent="0">
              <a:buNone/>
            </a:pPr>
            <a:r>
              <a:rPr lang="en-US" sz="1200" b="1" kern="0" spc="300" dirty="0">
                <a:solidFill>
                  <a:srgbClr val="7C7FF2"/>
                </a:solidFill>
                <a:latin typeface="Arial" pitchFamily="34" charset="0"/>
                <a:ea typeface="Arial" pitchFamily="34" charset="-122"/>
                <a:cs typeface="Arial" pitchFamily="34" charset="-120"/>
              </a:rPr>
              <a:t>ARCHITECTURE</a:t>
            </a:r>
            <a:endParaRPr lang="en-US" sz="1200" dirty="0"/>
          </a:p>
        </p:txBody>
      </p:sp>
      <p:sp>
        <p:nvSpPr>
          <p:cNvPr id="3" name="Text 1"/>
          <p:cNvSpPr/>
          <p:nvPr/>
        </p:nvSpPr>
        <p:spPr>
          <a:xfrm>
            <a:off x="548640" y="411480"/>
            <a:ext cx="11064240" cy="777240"/>
          </a:xfrm>
          <a:prstGeom prst="rect">
            <a:avLst/>
          </a:prstGeom>
          <a:noFill/>
          <a:ln/>
        </p:spPr>
        <p:txBody>
          <a:bodyPr wrap="square" rtlCol="0" anchor="ctr"/>
          <a:lstStyle/>
          <a:p>
            <a:pPr marL="0" indent="0">
              <a:buNone/>
            </a:pPr>
            <a:r>
              <a:rPr lang="en-US" sz="3400" b="1" dirty="0">
                <a:solidFill>
                  <a:srgbClr val="F4F5FF"/>
                </a:solidFill>
                <a:latin typeface="Arial" pitchFamily="34" charset="0"/>
                <a:ea typeface="Arial" pitchFamily="34" charset="-122"/>
                <a:cs typeface="Arial" pitchFamily="34" charset="-120"/>
              </a:rPr>
              <a:t>One copilot, two engines</a:t>
            </a:r>
            <a:endParaRPr lang="en-US" sz="3400" dirty="0"/>
          </a:p>
        </p:txBody>
      </p:sp>
      <p:sp>
        <p:nvSpPr>
          <p:cNvPr id="4" name="Shape 2"/>
          <p:cNvSpPr/>
          <p:nvPr/>
        </p:nvSpPr>
        <p:spPr>
          <a:xfrm>
            <a:off x="566928" y="1417320"/>
            <a:ext cx="2926080" cy="731520"/>
          </a:xfrm>
          <a:prstGeom prst="roundRect">
            <a:avLst>
              <a:gd name="adj" fmla="val 10000"/>
            </a:avLst>
          </a:prstGeom>
          <a:solidFill>
            <a:srgbClr val="141A2E"/>
          </a:solidFill>
          <a:ln w="6350">
            <a:solidFill>
              <a:srgbClr val="7C7FF2"/>
            </a:solidFill>
            <a:prstDash val="solid"/>
          </a:ln>
        </p:spPr>
      </p:sp>
      <p:sp>
        <p:nvSpPr>
          <p:cNvPr id="5" name="Text 3"/>
          <p:cNvSpPr/>
          <p:nvPr/>
        </p:nvSpPr>
        <p:spPr>
          <a:xfrm>
            <a:off x="566928" y="1417320"/>
            <a:ext cx="2926080" cy="731520"/>
          </a:xfrm>
          <a:prstGeom prst="rect">
            <a:avLst/>
          </a:prstGeom>
          <a:noFill/>
          <a:ln/>
        </p:spPr>
        <p:txBody>
          <a:bodyPr wrap="square" rtlCol="0" anchor="ctr"/>
          <a:lstStyle/>
          <a:p>
            <a:pPr marL="0" indent="0" algn="ctr">
              <a:buNone/>
            </a:pPr>
            <a:r>
              <a:rPr lang="en-US" sz="1400" b="1" dirty="0">
                <a:solidFill>
                  <a:srgbClr val="F4F5FF"/>
                </a:solidFill>
                <a:latin typeface="Arial" pitchFamily="34" charset="0"/>
                <a:ea typeface="Arial" pitchFamily="34" charset="-122"/>
                <a:cs typeface="Arial" pitchFamily="34" charset="-120"/>
              </a:rPr>
              <a:t>React shell · one ask-box</a:t>
            </a:r>
            <a:endParaRPr lang="en-US" sz="1400" dirty="0"/>
          </a:p>
        </p:txBody>
      </p:sp>
      <p:sp>
        <p:nvSpPr>
          <p:cNvPr id="6" name="Shape 4"/>
          <p:cNvSpPr/>
          <p:nvPr/>
        </p:nvSpPr>
        <p:spPr>
          <a:xfrm>
            <a:off x="566928" y="2514600"/>
            <a:ext cx="2926080" cy="1188720"/>
          </a:xfrm>
          <a:prstGeom prst="roundRect">
            <a:avLst>
              <a:gd name="adj" fmla="val 6154"/>
            </a:avLst>
          </a:prstGeom>
          <a:solidFill>
            <a:srgbClr val="1E2748"/>
          </a:solidFill>
          <a:ln w="6350">
            <a:solidFill>
              <a:srgbClr val="7C7FF2"/>
            </a:solidFill>
            <a:prstDash val="solid"/>
          </a:ln>
        </p:spPr>
      </p:sp>
      <p:sp>
        <p:nvSpPr>
          <p:cNvPr id="7" name="Text 5"/>
          <p:cNvSpPr/>
          <p:nvPr/>
        </p:nvSpPr>
        <p:spPr>
          <a:xfrm>
            <a:off x="566928" y="2514600"/>
            <a:ext cx="2926080" cy="1188720"/>
          </a:xfrm>
          <a:prstGeom prst="rect">
            <a:avLst/>
          </a:prstGeom>
          <a:noFill/>
          <a:ln/>
        </p:spPr>
        <p:txBody>
          <a:bodyPr wrap="square" rtlCol="0" anchor="ctr"/>
          <a:lstStyle/>
          <a:p>
            <a:pPr marL="0" indent="0" algn="ctr">
              <a:buNone/>
            </a:pPr>
            <a:r>
              <a:rPr lang="en-US" sz="1400" b="1" dirty="0">
                <a:solidFill>
                  <a:srgbClr val="F4F5FF"/>
                </a:solidFill>
                <a:latin typeface="Arial" pitchFamily="34" charset="0"/>
                <a:ea typeface="Arial" pitchFamily="34" charset="-122"/>
                <a:cs typeface="Arial" pitchFamily="34" charset="-120"/>
              </a:rPr>
              <a:t>QUICK PATH</a:t>
            </a:r>
            <a:endParaRPr lang="en-US" sz="1400" dirty="0"/>
          </a:p>
          <a:p>
            <a:pPr marL="0" indent="0" algn="ctr">
              <a:buNone/>
            </a:pPr>
            <a:r>
              <a:rPr lang="en-US" sz="1400" b="1" dirty="0">
                <a:solidFill>
                  <a:srgbClr val="F4F5FF"/>
                </a:solidFill>
                <a:latin typeface="Arial" pitchFamily="34" charset="0"/>
                <a:ea typeface="Arial" pitchFamily="34" charset="-122"/>
                <a:cs typeface="Arial" pitchFamily="34" charset="-120"/>
              </a:rPr>
              <a:t>server-verified FACTS</a:t>
            </a:r>
            <a:endParaRPr lang="en-US" sz="1400" dirty="0"/>
          </a:p>
          <a:p>
            <a:pPr marL="0" indent="0" algn="ctr">
              <a:buNone/>
            </a:pPr>
            <a:r>
              <a:rPr lang="en-US" sz="1400" b="1" dirty="0">
                <a:solidFill>
                  <a:srgbClr val="F4F5FF"/>
                </a:solidFill>
                <a:latin typeface="Arial" pitchFamily="34" charset="0"/>
                <a:ea typeface="Arial" pitchFamily="34" charset="-122"/>
                <a:cs typeface="Arial" pitchFamily="34" charset="-120"/>
              </a:rPr>
              <a:t>+ one Gemini call</a:t>
            </a:r>
            <a:endParaRPr lang="en-US" sz="1400" dirty="0"/>
          </a:p>
        </p:txBody>
      </p:sp>
      <p:sp>
        <p:nvSpPr>
          <p:cNvPr id="8" name="Shape 6"/>
          <p:cNvSpPr/>
          <p:nvPr/>
        </p:nvSpPr>
        <p:spPr>
          <a:xfrm>
            <a:off x="566928" y="4069080"/>
            <a:ext cx="2926080" cy="1188720"/>
          </a:xfrm>
          <a:prstGeom prst="roundRect">
            <a:avLst>
              <a:gd name="adj" fmla="val 6154"/>
            </a:avLst>
          </a:prstGeom>
          <a:solidFill>
            <a:srgbClr val="1E2748"/>
          </a:solidFill>
          <a:ln w="6350">
            <a:solidFill>
              <a:srgbClr val="7C7FF2"/>
            </a:solidFill>
            <a:prstDash val="solid"/>
          </a:ln>
        </p:spPr>
      </p:sp>
      <p:sp>
        <p:nvSpPr>
          <p:cNvPr id="9" name="Text 7"/>
          <p:cNvSpPr/>
          <p:nvPr/>
        </p:nvSpPr>
        <p:spPr>
          <a:xfrm>
            <a:off x="566928" y="4069080"/>
            <a:ext cx="2926080" cy="1188720"/>
          </a:xfrm>
          <a:prstGeom prst="rect">
            <a:avLst/>
          </a:prstGeom>
          <a:noFill/>
          <a:ln/>
        </p:spPr>
        <p:txBody>
          <a:bodyPr wrap="square" rtlCol="0" anchor="ctr"/>
          <a:lstStyle/>
          <a:p>
            <a:pPr marL="0" indent="0" algn="ctr">
              <a:buNone/>
            </a:pPr>
            <a:r>
              <a:rPr lang="en-US" sz="1400" b="1" dirty="0">
                <a:solidFill>
                  <a:srgbClr val="F4F5FF"/>
                </a:solidFill>
                <a:latin typeface="Arial" pitchFamily="34" charset="0"/>
                <a:ea typeface="Arial" pitchFamily="34" charset="-122"/>
                <a:cs typeface="Arial" pitchFamily="34" charset="-120"/>
              </a:rPr>
              <a:t>ADK CONCIERGE</a:t>
            </a:r>
            <a:endParaRPr lang="en-US" sz="1400" dirty="0"/>
          </a:p>
          <a:p>
            <a:pPr marL="0" indent="0" algn="ctr">
              <a:buNone/>
            </a:pPr>
            <a:r>
              <a:rPr lang="en-US" sz="1400" b="1" dirty="0">
                <a:solidFill>
                  <a:srgbClr val="F4F5FF"/>
                </a:solidFill>
                <a:latin typeface="Arial" pitchFamily="34" charset="0"/>
                <a:ea typeface="Arial" pitchFamily="34" charset="-122"/>
                <a:cs typeface="Arial" pitchFamily="34" charset="-120"/>
              </a:rPr>
              <a:t>root router — NO tools</a:t>
            </a:r>
            <a:endParaRPr lang="en-US" sz="1400" dirty="0"/>
          </a:p>
          <a:p>
            <a:pPr marL="0" indent="0" algn="ctr">
              <a:buNone/>
            </a:pPr>
            <a:r>
              <a:rPr lang="en-US" sz="1400" b="1" dirty="0">
                <a:solidFill>
                  <a:srgbClr val="F4F5FF"/>
                </a:solidFill>
                <a:latin typeface="Arial" pitchFamily="34" charset="0"/>
                <a:ea typeface="Arial" pitchFamily="34" charset="-122"/>
                <a:cs typeface="Arial" pitchFamily="34" charset="-120"/>
              </a:rPr>
              <a:t>7 scoped specialists</a:t>
            </a:r>
            <a:endParaRPr lang="en-US" sz="1400" dirty="0"/>
          </a:p>
        </p:txBody>
      </p:sp>
      <p:sp>
        <p:nvSpPr>
          <p:cNvPr id="10" name="Shape 8"/>
          <p:cNvSpPr/>
          <p:nvPr/>
        </p:nvSpPr>
        <p:spPr>
          <a:xfrm>
            <a:off x="4572000" y="3246120"/>
            <a:ext cx="2651760" cy="1280160"/>
          </a:xfrm>
          <a:prstGeom prst="roundRect">
            <a:avLst>
              <a:gd name="adj" fmla="val 5714"/>
            </a:avLst>
          </a:prstGeom>
          <a:solidFill>
            <a:srgbClr val="3A2E12"/>
          </a:solidFill>
          <a:ln w="6350">
            <a:solidFill>
              <a:srgbClr val="7C7FF2"/>
            </a:solidFill>
            <a:prstDash val="solid"/>
          </a:ln>
        </p:spPr>
      </p:sp>
      <p:sp>
        <p:nvSpPr>
          <p:cNvPr id="11" name="Text 9"/>
          <p:cNvSpPr/>
          <p:nvPr/>
        </p:nvSpPr>
        <p:spPr>
          <a:xfrm>
            <a:off x="4572000" y="3246120"/>
            <a:ext cx="2651760" cy="1280160"/>
          </a:xfrm>
          <a:prstGeom prst="rect">
            <a:avLst/>
          </a:prstGeom>
          <a:noFill/>
          <a:ln/>
        </p:spPr>
        <p:txBody>
          <a:bodyPr wrap="square" rtlCol="0" anchor="ctr"/>
          <a:lstStyle/>
          <a:p>
            <a:pPr marL="0" indent="0" algn="ctr">
              <a:buNone/>
            </a:pPr>
            <a:r>
              <a:rPr lang="en-US" sz="1300" b="1" dirty="0">
                <a:solidFill>
                  <a:srgbClr val="F4F5FF"/>
                </a:solidFill>
                <a:latin typeface="Arial" pitchFamily="34" charset="0"/>
                <a:ea typeface="Arial" pitchFamily="34" charset="-122"/>
                <a:cs typeface="Arial" pitchFamily="34" charset="-120"/>
              </a:rPr>
              <a:t>MCP toolbelt</a:t>
            </a:r>
            <a:endParaRPr lang="en-US" sz="1300" dirty="0"/>
          </a:p>
          <a:p>
            <a:pPr marL="0" indent="0" algn="ctr">
              <a:buNone/>
            </a:pPr>
            <a:r>
              <a:rPr lang="en-US" sz="1300" b="1" dirty="0">
                <a:solidFill>
                  <a:srgbClr val="F4F5FF"/>
                </a:solidFill>
                <a:latin typeface="Arial" pitchFamily="34" charset="0"/>
                <a:ea typeface="Arial" pitchFamily="34" charset="-122"/>
                <a:cs typeface="Arial" pitchFamily="34" charset="-120"/>
              </a:rPr>
              <a:t>risk tiers · provenance</a:t>
            </a:r>
            <a:endParaRPr lang="en-US" sz="1300" dirty="0"/>
          </a:p>
          <a:p>
            <a:pPr marL="0" indent="0" algn="ctr">
              <a:buNone/>
            </a:pPr>
            <a:r>
              <a:rPr lang="en-US" sz="1300" b="1" dirty="0">
                <a:solidFill>
                  <a:srgbClr val="F4F5FF"/>
                </a:solidFill>
                <a:latin typeface="Arial" pitchFamily="34" charset="0"/>
                <a:ea typeface="Arial" pitchFamily="34" charset="-122"/>
                <a:cs typeface="Arial" pitchFamily="34" charset="-120"/>
              </a:rPr>
              <a:t>NO payment tool</a:t>
            </a:r>
            <a:endParaRPr lang="en-US" sz="1300" dirty="0"/>
          </a:p>
        </p:txBody>
      </p:sp>
      <p:sp>
        <p:nvSpPr>
          <p:cNvPr id="12" name="Shape 10"/>
          <p:cNvSpPr/>
          <p:nvPr/>
        </p:nvSpPr>
        <p:spPr>
          <a:xfrm>
            <a:off x="8138160" y="3246120"/>
            <a:ext cx="2377440" cy="1280160"/>
          </a:xfrm>
          <a:prstGeom prst="roundRect">
            <a:avLst>
              <a:gd name="adj" fmla="val 5714"/>
            </a:avLst>
          </a:prstGeom>
          <a:solidFill>
            <a:srgbClr val="13251C"/>
          </a:solidFill>
          <a:ln w="6350">
            <a:solidFill>
              <a:srgbClr val="7C7FF2"/>
            </a:solidFill>
            <a:prstDash val="solid"/>
          </a:ln>
        </p:spPr>
      </p:sp>
      <p:sp>
        <p:nvSpPr>
          <p:cNvPr id="13" name="Text 11"/>
          <p:cNvSpPr/>
          <p:nvPr/>
        </p:nvSpPr>
        <p:spPr>
          <a:xfrm>
            <a:off x="8138160" y="3246120"/>
            <a:ext cx="2377440" cy="1280160"/>
          </a:xfrm>
          <a:prstGeom prst="rect">
            <a:avLst/>
          </a:prstGeom>
          <a:noFill/>
          <a:ln/>
        </p:spPr>
        <p:txBody>
          <a:bodyPr wrap="square" rtlCol="0" anchor="ctr"/>
          <a:lstStyle/>
          <a:p>
            <a:pPr marL="0" indent="0" algn="ctr">
              <a:buNone/>
            </a:pPr>
            <a:r>
              <a:rPr lang="en-US" sz="1300" b="1" dirty="0">
                <a:solidFill>
                  <a:srgbClr val="F4F5FF"/>
                </a:solidFill>
                <a:latin typeface="Arial" pitchFamily="34" charset="0"/>
                <a:ea typeface="Arial" pitchFamily="34" charset="-122"/>
                <a:cs typeface="Arial" pitchFamily="34" charset="-120"/>
              </a:rPr>
              <a:t>Supabase</a:t>
            </a:r>
            <a:endParaRPr lang="en-US" sz="1300" dirty="0"/>
          </a:p>
          <a:p>
            <a:pPr marL="0" indent="0" algn="ctr">
              <a:buNone/>
            </a:pPr>
            <a:r>
              <a:rPr lang="en-US" sz="1300" b="1" dirty="0">
                <a:solidFill>
                  <a:srgbClr val="F4F5FF"/>
                </a:solidFill>
                <a:latin typeface="Arial" pitchFamily="34" charset="0"/>
                <a:ea typeface="Arial" pitchFamily="34" charset="-122"/>
                <a:cs typeface="Arial" pitchFamily="34" charset="-120"/>
              </a:rPr>
              <a:t>row-level security</a:t>
            </a:r>
            <a:endParaRPr lang="en-US" sz="1300" dirty="0"/>
          </a:p>
          <a:p>
            <a:pPr marL="0" indent="0" algn="ctr">
              <a:buNone/>
            </a:pPr>
            <a:r>
              <a:rPr lang="en-US" sz="1300" b="1" dirty="0">
                <a:solidFill>
                  <a:srgbClr val="F4F5FF"/>
                </a:solidFill>
                <a:latin typeface="Arial" pitchFamily="34" charset="0"/>
                <a:ea typeface="Arial" pitchFamily="34" charset="-122"/>
                <a:cs typeface="Arial" pitchFamily="34" charset="-120"/>
              </a:rPr>
              <a:t>per-visitor isolation</a:t>
            </a:r>
            <a:endParaRPr lang="en-US" sz="1300" dirty="0"/>
          </a:p>
        </p:txBody>
      </p:sp>
      <p:sp>
        <p:nvSpPr>
          <p:cNvPr id="14" name="Text 12"/>
          <p:cNvSpPr/>
          <p:nvPr/>
        </p:nvSpPr>
        <p:spPr>
          <a:xfrm>
            <a:off x="1847088" y="2121408"/>
            <a:ext cx="365760" cy="411480"/>
          </a:xfrm>
          <a:prstGeom prst="rect">
            <a:avLst/>
          </a:prstGeom>
          <a:noFill/>
          <a:ln/>
        </p:spPr>
        <p:txBody>
          <a:bodyPr wrap="square" rtlCol="0" anchor="ctr"/>
          <a:lstStyle/>
          <a:p>
            <a:pPr marL="0" indent="0" algn="ctr">
              <a:buNone/>
            </a:pPr>
            <a:r>
              <a:rPr lang="en-US" sz="2000" dirty="0">
                <a:solidFill>
                  <a:srgbClr val="7C7FF2"/>
                </a:solidFill>
              </a:rPr>
              <a:t>↓</a:t>
            </a:r>
            <a:endParaRPr lang="en-US" sz="2000" dirty="0"/>
          </a:p>
        </p:txBody>
      </p:sp>
      <p:sp>
        <p:nvSpPr>
          <p:cNvPr id="15" name="Text 13"/>
          <p:cNvSpPr/>
          <p:nvPr/>
        </p:nvSpPr>
        <p:spPr>
          <a:xfrm>
            <a:off x="1847088" y="3675888"/>
            <a:ext cx="365760" cy="411480"/>
          </a:xfrm>
          <a:prstGeom prst="rect">
            <a:avLst/>
          </a:prstGeom>
          <a:noFill/>
          <a:ln/>
        </p:spPr>
        <p:txBody>
          <a:bodyPr wrap="square" rtlCol="0" anchor="ctr"/>
          <a:lstStyle/>
          <a:p>
            <a:pPr marL="0" indent="0" algn="ctr">
              <a:buNone/>
            </a:pPr>
            <a:r>
              <a:rPr lang="en-US" sz="2000" dirty="0">
                <a:solidFill>
                  <a:srgbClr val="7C7FF2"/>
                </a:solidFill>
              </a:rPr>
              <a:t>↓</a:t>
            </a:r>
            <a:endParaRPr lang="en-US" sz="2000" dirty="0"/>
          </a:p>
        </p:txBody>
      </p:sp>
      <p:sp>
        <p:nvSpPr>
          <p:cNvPr id="16" name="Text 14"/>
          <p:cNvSpPr/>
          <p:nvPr/>
        </p:nvSpPr>
        <p:spPr>
          <a:xfrm>
            <a:off x="3657600" y="3429000"/>
            <a:ext cx="777240" cy="914400"/>
          </a:xfrm>
          <a:prstGeom prst="rect">
            <a:avLst/>
          </a:prstGeom>
          <a:noFill/>
          <a:ln/>
        </p:spPr>
        <p:txBody>
          <a:bodyPr wrap="square" rtlCol="0" anchor="ctr"/>
          <a:lstStyle/>
          <a:p>
            <a:pPr marL="0" indent="0" algn="ctr">
              <a:buNone/>
            </a:pPr>
            <a:r>
              <a:rPr lang="en-US" sz="2800" dirty="0">
                <a:solidFill>
                  <a:srgbClr val="7C7FF2"/>
                </a:solidFill>
              </a:rPr>
              <a:t>→</a:t>
            </a:r>
            <a:endParaRPr lang="en-US" sz="2800" dirty="0"/>
          </a:p>
        </p:txBody>
      </p:sp>
      <p:sp>
        <p:nvSpPr>
          <p:cNvPr id="17" name="Text 15"/>
          <p:cNvSpPr/>
          <p:nvPr/>
        </p:nvSpPr>
        <p:spPr>
          <a:xfrm>
            <a:off x="7360920" y="3429000"/>
            <a:ext cx="640080" cy="914400"/>
          </a:xfrm>
          <a:prstGeom prst="rect">
            <a:avLst/>
          </a:prstGeom>
          <a:noFill/>
          <a:ln/>
        </p:spPr>
        <p:txBody>
          <a:bodyPr wrap="square" rtlCol="0" anchor="ctr"/>
          <a:lstStyle/>
          <a:p>
            <a:pPr marL="0" indent="0" algn="ctr">
              <a:buNone/>
            </a:pPr>
            <a:r>
              <a:rPr lang="en-US" sz="2800" dirty="0">
                <a:solidFill>
                  <a:srgbClr val="7C7FF2"/>
                </a:solidFill>
              </a:rPr>
              <a:t>→</a:t>
            </a:r>
            <a:endParaRPr lang="en-US" sz="2800" dirty="0"/>
          </a:p>
        </p:txBody>
      </p:sp>
      <p:sp>
        <p:nvSpPr>
          <p:cNvPr id="18" name="Text 16"/>
          <p:cNvSpPr/>
          <p:nvPr/>
        </p:nvSpPr>
        <p:spPr>
          <a:xfrm>
            <a:off x="566928" y="5623560"/>
            <a:ext cx="11155680" cy="4937760"/>
          </a:xfrm>
          <a:prstGeom prst="rect">
            <a:avLst/>
          </a:prstGeom>
          <a:noFill/>
          <a:ln/>
        </p:spPr>
        <p:txBody>
          <a:bodyPr wrap="square" rtlCol="0" anchor="t"/>
          <a:lstStyle/>
          <a:p>
            <a:pPr marL="177800" indent="-177800">
              <a:spcAft>
                <a:spcPts val="800"/>
              </a:spcAft>
              <a:buSzPct val="100000"/>
              <a:buChar char="•"/>
            </a:pPr>
            <a:r>
              <a:rPr lang="en-US" sz="1400" dirty="0">
                <a:solidFill>
                  <a:srgbClr val="F4F5FF"/>
                </a:solidFill>
                <a:latin typeface="Calibri" pitchFamily="34" charset="0"/>
                <a:ea typeface="Calibri" pitchFamily="34" charset="-122"/>
                <a:cs typeface="Calibri" pitchFamily="34" charset="-120"/>
              </a:rPr>
              <a:t>Simple asks: the model reasons over pre-verified facts — for instance, it can’t invent a venue</a:t>
            </a:r>
            <a:endParaRPr lang="en-US" sz="1400" dirty="0"/>
          </a:p>
          <a:p>
            <a:pPr marL="177800" indent="-177800">
              <a:spcAft>
                <a:spcPts val="800"/>
              </a:spcAft>
              <a:buSzPct val="100000"/>
              <a:buChar char="•"/>
            </a:pPr>
            <a:r>
              <a:rPr lang="en-US" sz="1400" dirty="0">
                <a:solidFill>
                  <a:srgbClr val="F4F5FF"/>
                </a:solidFill>
                <a:latin typeface="Calibri" pitchFamily="34" charset="0"/>
                <a:ea typeface="Calibri" pitchFamily="34" charset="-122"/>
                <a:cs typeface="Calibri" pitchFamily="34" charset="-120"/>
              </a:rPr>
              <a:t>Action turns: root delegates; separation maintains between the specialists; e.g. the shopping agent literally cannot touch the calendar</a:t>
            </a:r>
            <a:endParaRPr lang="en-US" sz="1400" dirty="0"/>
          </a:p>
          <a:p>
            <a:pPr marL="177800" indent="-177800">
              <a:spcAft>
                <a:spcPts val="800"/>
              </a:spcAft>
              <a:buSzPct val="100000"/>
              <a:buChar char="•"/>
            </a:pPr>
            <a:r>
              <a:rPr lang="en-US" sz="1400" dirty="0">
                <a:solidFill>
                  <a:srgbClr val="F4F5FF"/>
                </a:solidFill>
                <a:latin typeface="Calibri" pitchFamily="34" charset="0"/>
                <a:ea typeface="Calibri" pitchFamily="34" charset="-122"/>
                <a:cs typeface="Calibri" pitchFamily="34" charset="-120"/>
              </a:rPr>
              <a:t>Every write carries a server-side risk tier — destructive ⇒ staged for approval</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66928" y="109728"/>
            <a:ext cx="9144000" cy="320040"/>
          </a:xfrm>
          <a:prstGeom prst="rect">
            <a:avLst/>
          </a:prstGeom>
          <a:noFill/>
          <a:ln/>
        </p:spPr>
        <p:txBody>
          <a:bodyPr wrap="square" rtlCol="0" anchor="ctr"/>
          <a:lstStyle/>
          <a:p>
            <a:pPr marL="0" indent="0">
              <a:buNone/>
            </a:pPr>
            <a:r>
              <a:rPr lang="en-US" sz="1200" b="1" kern="0" spc="300" dirty="0">
                <a:solidFill>
                  <a:srgbClr val="7C7FF2"/>
                </a:solidFill>
                <a:latin typeface="Arial" pitchFamily="34" charset="0"/>
                <a:ea typeface="Arial" pitchFamily="34" charset="-122"/>
                <a:cs typeface="Arial" pitchFamily="34" charset="-120"/>
              </a:rPr>
              <a:t>SAFETY</a:t>
            </a:r>
            <a:endParaRPr lang="en-US" sz="1200" dirty="0"/>
          </a:p>
        </p:txBody>
      </p:sp>
      <p:sp>
        <p:nvSpPr>
          <p:cNvPr id="3" name="Text 1"/>
          <p:cNvSpPr/>
          <p:nvPr/>
        </p:nvSpPr>
        <p:spPr>
          <a:xfrm>
            <a:off x="548640" y="411480"/>
            <a:ext cx="11064240" cy="777240"/>
          </a:xfrm>
          <a:prstGeom prst="rect">
            <a:avLst/>
          </a:prstGeom>
          <a:noFill/>
          <a:ln/>
        </p:spPr>
        <p:txBody>
          <a:bodyPr wrap="square" rtlCol="0" anchor="ctr"/>
          <a:lstStyle/>
          <a:p>
            <a:pPr marL="0" indent="0">
              <a:buNone/>
            </a:pPr>
            <a:r>
              <a:rPr lang="en-US" sz="3400" b="1" dirty="0">
                <a:solidFill>
                  <a:srgbClr val="F4F5FF"/>
                </a:solidFill>
                <a:latin typeface="Arial" pitchFamily="34" charset="0"/>
                <a:ea typeface="Arial" pitchFamily="34" charset="-122"/>
                <a:cs typeface="Arial" pitchFamily="34" charset="-120"/>
              </a:rPr>
              <a:t>The adult stays the approver</a:t>
            </a:r>
            <a:endParaRPr lang="en-US" sz="3400" dirty="0"/>
          </a:p>
        </p:txBody>
      </p:sp>
      <p:pic>
        <p:nvPicPr>
          <p:cNvPr id="4" name="Image 0" descr="docs/user-guide/11-approvals.png"/>
          <p:cNvPicPr>
            <a:picLocks noChangeAspect="1"/>
          </p:cNvPicPr>
          <p:nvPr/>
        </p:nvPicPr>
        <p:blipFill>
          <a:blip r:embed="rId3"/>
          <a:stretch>
            <a:fillRect/>
          </a:stretch>
        </p:blipFill>
        <p:spPr>
          <a:xfrm>
            <a:off x="6400800" y="1737360"/>
            <a:ext cx="5212080" cy="3501801"/>
          </a:xfrm>
          <a:prstGeom prst="rect">
            <a:avLst/>
          </a:prstGeom>
          <a:effectLst>
            <a:outerShdw blurRad="177800" dist="63500" dir="5400000" algn="bl" rotWithShape="0">
              <a:srgbClr val="000000">
                <a:alpha val="55000"/>
              </a:srgbClr>
            </a:outerShdw>
          </a:effectLst>
        </p:spPr>
      </p:pic>
      <p:sp>
        <p:nvSpPr>
          <p:cNvPr id="5" name="Text 2"/>
          <p:cNvSpPr/>
          <p:nvPr/>
        </p:nvSpPr>
        <p:spPr>
          <a:xfrm>
            <a:off x="566928" y="2011680"/>
            <a:ext cx="5577840" cy="4937760"/>
          </a:xfrm>
          <a:prstGeom prst="rect">
            <a:avLst/>
          </a:prstGeom>
          <a:noFill/>
          <a:ln/>
        </p:spPr>
        <p:txBody>
          <a:bodyPr wrap="square" rtlCol="0" anchor="t"/>
          <a:lstStyle/>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No-payment invariant — structural, proven by tests</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Risk tiers: auto · confirm · step-up PIN — server-side</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Handoffs open the REAL page; never fill, never submit</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Provenance gate: only links the agent actually observed</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Scope guard: homework/code/trivia → polite decline</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Per-visitor isolation: RLS on every write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66928" y="109728"/>
            <a:ext cx="9144000" cy="320040"/>
          </a:xfrm>
          <a:prstGeom prst="rect">
            <a:avLst/>
          </a:prstGeom>
          <a:noFill/>
          <a:ln/>
        </p:spPr>
        <p:txBody>
          <a:bodyPr wrap="square" rtlCol="0" anchor="ctr"/>
          <a:lstStyle/>
          <a:p>
            <a:pPr marL="0" indent="0">
              <a:buNone/>
            </a:pPr>
            <a:r>
              <a:rPr lang="en-US" sz="1200" b="1" kern="0" spc="300" dirty="0">
                <a:solidFill>
                  <a:srgbClr val="7C7FF2"/>
                </a:solidFill>
                <a:latin typeface="Arial" pitchFamily="34" charset="0"/>
                <a:ea typeface="Arial" pitchFamily="34" charset="-122"/>
                <a:cs typeface="Arial" pitchFamily="34" charset="-120"/>
              </a:rPr>
              <a:t>THE FLAGSHIP</a:t>
            </a:r>
            <a:endParaRPr lang="en-US" sz="1200" dirty="0"/>
          </a:p>
        </p:txBody>
      </p:sp>
      <p:sp>
        <p:nvSpPr>
          <p:cNvPr id="3" name="Text 1"/>
          <p:cNvSpPr/>
          <p:nvPr/>
        </p:nvSpPr>
        <p:spPr>
          <a:xfrm>
            <a:off x="548640" y="411480"/>
            <a:ext cx="11064240" cy="777240"/>
          </a:xfrm>
          <a:prstGeom prst="rect">
            <a:avLst/>
          </a:prstGeom>
          <a:noFill/>
          <a:ln/>
        </p:spPr>
        <p:txBody>
          <a:bodyPr wrap="square" rtlCol="0" anchor="ctr"/>
          <a:lstStyle/>
          <a:p>
            <a:pPr marL="0" indent="0">
              <a:buNone/>
            </a:pPr>
            <a:r>
              <a:rPr lang="en-US" sz="3400" b="1" dirty="0">
                <a:solidFill>
                  <a:srgbClr val="F4F5FF"/>
                </a:solidFill>
                <a:latin typeface="Arial" pitchFamily="34" charset="0"/>
                <a:ea typeface="Arial" pitchFamily="34" charset="-122"/>
                <a:cs typeface="Arial" pitchFamily="34" charset="-120"/>
              </a:rPr>
              <a:t>The morning agent — proactive, not just reactive</a:t>
            </a:r>
            <a:endParaRPr lang="en-US" sz="3400" dirty="0"/>
          </a:p>
        </p:txBody>
      </p:sp>
      <p:pic>
        <p:nvPicPr>
          <p:cNvPr id="4" name="Image 0" descr="docs/user-guide/04-briefing.png"/>
          <p:cNvPicPr>
            <a:picLocks noChangeAspect="1"/>
          </p:cNvPicPr>
          <p:nvPr/>
        </p:nvPicPr>
        <p:blipFill>
          <a:blip r:embed="rId3"/>
          <a:stretch>
            <a:fillRect/>
          </a:stretch>
        </p:blipFill>
        <p:spPr>
          <a:xfrm>
            <a:off x="6400800" y="1737360"/>
            <a:ext cx="5212080" cy="3501801"/>
          </a:xfrm>
          <a:prstGeom prst="rect">
            <a:avLst/>
          </a:prstGeom>
          <a:effectLst>
            <a:outerShdw blurRad="177800" dist="63500" dir="5400000" algn="bl" rotWithShape="0">
              <a:srgbClr val="000000">
                <a:alpha val="55000"/>
              </a:srgbClr>
            </a:outerShdw>
          </a:effectLst>
        </p:spPr>
      </p:pic>
      <p:sp>
        <p:nvSpPr>
          <p:cNvPr id="5" name="Text 2"/>
          <p:cNvSpPr/>
          <p:nvPr/>
        </p:nvSpPr>
        <p:spPr>
          <a:xfrm>
            <a:off x="566928" y="2103120"/>
            <a:ext cx="5669280" cy="3291840"/>
          </a:xfrm>
          <a:prstGeom prst="rect">
            <a:avLst/>
          </a:prstGeom>
          <a:noFill/>
          <a:ln/>
        </p:spPr>
        <p:txBody>
          <a:bodyPr wrap="square" rtlCol="0" anchor="t"/>
          <a:lstStyle/>
          <a:p>
            <a:pPr marL="0" indent="0">
              <a:buNone/>
            </a:pPr>
            <a:r>
              <a:rPr lang="en-US" sz="1700" b="1" dirty="0">
                <a:solidFill>
                  <a:srgbClr val="7C7FF2"/>
                </a:solidFill>
                <a:latin typeface="Calibri" pitchFamily="34" charset="0"/>
                <a:ea typeface="Calibri" pitchFamily="34" charset="-122"/>
                <a:cs typeface="Calibri" pitchFamily="34" charset="-120"/>
              </a:rPr>
              <a:t>Model proposes. </a:t>
            </a:r>
            <a:r>
              <a:rPr lang="en-US" sz="1700" dirty="0">
                <a:solidFill>
                  <a:srgbClr val="F4F5FF"/>
                </a:solidFill>
                <a:latin typeface="Calibri" pitchFamily="34" charset="0"/>
                <a:ea typeface="Calibri" pitchFamily="34" charset="-122"/>
                <a:cs typeface="Calibri" pitchFamily="34" charset="-120"/>
              </a:rPr>
              <a:t>Reads today’s facts, proposes up to 3 concrete actions.
</a:t>
            </a:r>
            <a:r>
              <a:rPr lang="en-US" sz="1700" b="1" dirty="0">
                <a:solidFill>
                  <a:srgbClr val="F2B84B"/>
                </a:solidFill>
                <a:latin typeface="Calibri" pitchFamily="34" charset="0"/>
                <a:ea typeface="Calibri" pitchFamily="34" charset="-122"/>
                <a:cs typeface="Calibri" pitchFamily="34" charset="-120"/>
              </a:rPr>
              <a:t>Code stages. </a:t>
            </a:r>
            <a:r>
              <a:rPr lang="en-US" sz="1700" dirty="0">
                <a:solidFill>
                  <a:srgbClr val="F4F5FF"/>
                </a:solidFill>
                <a:latin typeface="Calibri" pitchFamily="34" charset="0"/>
                <a:ea typeface="Calibri" pitchFamily="34" charset="-122"/>
                <a:cs typeface="Calibri" pitchFamily="34" charset="-120"/>
              </a:rPr>
              <a:t>Deterministic validation; every draft is confirm-tier.
</a:t>
            </a:r>
            <a:r>
              <a:rPr lang="en-US" sz="1700" b="1" dirty="0">
                <a:solidFill>
                  <a:srgbClr val="4ADE80"/>
                </a:solidFill>
                <a:latin typeface="Calibri" pitchFamily="34" charset="0"/>
                <a:ea typeface="Calibri" pitchFamily="34" charset="-122"/>
                <a:cs typeface="Calibri" pitchFamily="34" charset="-120"/>
              </a:rPr>
              <a:t>Parent/Adult approves. </a:t>
            </a:r>
            <a:r>
              <a:rPr lang="en-US" sz="1700" dirty="0">
                <a:solidFill>
                  <a:srgbClr val="F4F5FF"/>
                </a:solidFill>
                <a:latin typeface="Calibri" pitchFamily="34" charset="0"/>
                <a:ea typeface="Calibri" pitchFamily="34" charset="-122"/>
                <a:cs typeface="Calibri" pitchFamily="34" charset="-120"/>
              </a:rPr>
              <a:t>Drafts wait in Approvals; a scheduler emails the digest.</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66928" y="109728"/>
            <a:ext cx="9144000" cy="320040"/>
          </a:xfrm>
          <a:prstGeom prst="rect">
            <a:avLst/>
          </a:prstGeom>
          <a:noFill/>
          <a:ln/>
        </p:spPr>
        <p:txBody>
          <a:bodyPr wrap="square" rtlCol="0" anchor="ctr"/>
          <a:lstStyle/>
          <a:p>
            <a:pPr marL="0" indent="0">
              <a:buNone/>
            </a:pPr>
            <a:r>
              <a:rPr lang="en-US" sz="1200" b="1" kern="0" spc="300" dirty="0">
                <a:solidFill>
                  <a:srgbClr val="7C7FF2"/>
                </a:solidFill>
                <a:latin typeface="Arial" pitchFamily="34" charset="0"/>
                <a:ea typeface="Arial" pitchFamily="34" charset="-122"/>
                <a:cs typeface="Arial" pitchFamily="34" charset="-120"/>
              </a:rPr>
              <a:t>SAFE FOR EVEN AGE 4</a:t>
            </a:r>
            <a:endParaRPr lang="en-US" sz="1200" dirty="0"/>
          </a:p>
        </p:txBody>
      </p:sp>
      <p:sp>
        <p:nvSpPr>
          <p:cNvPr id="3" name="Text 1"/>
          <p:cNvSpPr/>
          <p:nvPr/>
        </p:nvSpPr>
        <p:spPr>
          <a:xfrm>
            <a:off x="548640" y="411480"/>
            <a:ext cx="11064240" cy="777240"/>
          </a:xfrm>
          <a:prstGeom prst="rect">
            <a:avLst/>
          </a:prstGeom>
          <a:noFill/>
          <a:ln/>
        </p:spPr>
        <p:txBody>
          <a:bodyPr wrap="square" rtlCol="0" anchor="ctr"/>
          <a:lstStyle/>
          <a:p>
            <a:pPr marL="0" indent="0">
              <a:buNone/>
            </a:pPr>
            <a:r>
              <a:rPr lang="en-US" sz="3400" b="1" dirty="0">
                <a:solidFill>
                  <a:srgbClr val="F4F5FF"/>
                </a:solidFill>
                <a:latin typeface="Arial" pitchFamily="34" charset="0"/>
                <a:ea typeface="Arial" pitchFamily="34" charset="-122"/>
                <a:cs typeface="Arial" pitchFamily="34" charset="-120"/>
              </a:rPr>
              <a:t>Kid mode — nothing destructive left to tap</a:t>
            </a:r>
            <a:endParaRPr lang="en-US" sz="3400" dirty="0"/>
          </a:p>
        </p:txBody>
      </p:sp>
      <p:pic>
        <p:nvPicPr>
          <p:cNvPr id="4" name="Image 0" descr="docs/user-guide/14-kidmode-confetti.png"/>
          <p:cNvPicPr>
            <a:picLocks noChangeAspect="1"/>
          </p:cNvPicPr>
          <p:nvPr/>
        </p:nvPicPr>
        <p:blipFill>
          <a:blip r:embed="rId3"/>
          <a:stretch>
            <a:fillRect/>
          </a:stretch>
        </p:blipFill>
        <p:spPr>
          <a:xfrm>
            <a:off x="6400800" y="1737360"/>
            <a:ext cx="5212080" cy="3501801"/>
          </a:xfrm>
          <a:prstGeom prst="rect">
            <a:avLst/>
          </a:prstGeom>
          <a:effectLst>
            <a:outerShdw blurRad="177800" dist="63500" dir="5400000" algn="bl" rotWithShape="0">
              <a:srgbClr val="000000">
                <a:alpha val="55000"/>
              </a:srgbClr>
            </a:outerShdw>
          </a:effectLst>
        </p:spPr>
      </p:pic>
      <p:sp>
        <p:nvSpPr>
          <p:cNvPr id="5" name="Text 2"/>
          <p:cNvSpPr/>
          <p:nvPr/>
        </p:nvSpPr>
        <p:spPr>
          <a:xfrm>
            <a:off x="566928" y="2011680"/>
            <a:ext cx="5577840" cy="4937760"/>
          </a:xfrm>
          <a:prstGeom prst="rect">
            <a:avLst/>
          </a:prstGeom>
          <a:noFill/>
          <a:ln/>
        </p:spPr>
        <p:txBody>
          <a:bodyPr wrap="square" rtlCol="0" anchor="t"/>
          <a:lstStyle/>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One toggle locks the wall tablet to the kid-safe view</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Picture-first chores, XP + levels, confetti on completion</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Delete, settings, approvals — all gone from the screen</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Kids can still ask — the worst outcome is a draft for a parent</a:t>
            </a:r>
            <a:endParaRPr lang="en-US" sz="1500" dirty="0"/>
          </a:p>
          <a:p>
            <a:pPr marL="177800" indent="-177800">
              <a:spcAft>
                <a:spcPts val="800"/>
              </a:spcAft>
              <a:buSzPct val="100000"/>
              <a:buChar char="•"/>
            </a:pPr>
            <a:r>
              <a:rPr lang="en-US" sz="1500" dirty="0">
                <a:solidFill>
                  <a:srgbClr val="F4F5FF"/>
                </a:solidFill>
                <a:latin typeface="Calibri" pitchFamily="34" charset="0"/>
                <a:ea typeface="Calibri" pitchFamily="34" charset="-122"/>
                <a:cs typeface="Calibri" pitchFamily="34" charset="-120"/>
              </a:rPr>
              <a:t>Exit = 3-second hold + the parent PIN</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66928" y="109728"/>
            <a:ext cx="9144000" cy="320040"/>
          </a:xfrm>
          <a:prstGeom prst="rect">
            <a:avLst/>
          </a:prstGeom>
          <a:noFill/>
          <a:ln/>
        </p:spPr>
        <p:txBody>
          <a:bodyPr wrap="square" rtlCol="0" anchor="ctr"/>
          <a:lstStyle/>
          <a:p>
            <a:pPr marL="0" indent="0">
              <a:buNone/>
            </a:pPr>
            <a:r>
              <a:rPr lang="en-US" sz="1200" b="1" kern="0" spc="300" dirty="0">
                <a:solidFill>
                  <a:srgbClr val="7C7FF2"/>
                </a:solidFill>
                <a:latin typeface="Arial" pitchFamily="34" charset="0"/>
                <a:ea typeface="Arial" pitchFamily="34" charset="-122"/>
                <a:cs typeface="Arial" pitchFamily="34" charset="-120"/>
              </a:rPr>
              <a:t>THE BUILD</a:t>
            </a:r>
            <a:endParaRPr lang="en-US" sz="1200" dirty="0"/>
          </a:p>
        </p:txBody>
      </p:sp>
      <p:sp>
        <p:nvSpPr>
          <p:cNvPr id="3" name="Text 1"/>
          <p:cNvSpPr/>
          <p:nvPr/>
        </p:nvSpPr>
        <p:spPr>
          <a:xfrm>
            <a:off x="548640" y="411480"/>
            <a:ext cx="11064240" cy="777240"/>
          </a:xfrm>
          <a:prstGeom prst="rect">
            <a:avLst/>
          </a:prstGeom>
          <a:noFill/>
          <a:ln/>
        </p:spPr>
        <p:txBody>
          <a:bodyPr wrap="square" rtlCol="0" anchor="ctr"/>
          <a:lstStyle/>
          <a:p>
            <a:pPr marL="0" indent="0">
              <a:buNone/>
            </a:pPr>
            <a:r>
              <a:rPr lang="en-US" sz="3400" b="1" dirty="0">
                <a:solidFill>
                  <a:srgbClr val="F4F5FF"/>
                </a:solidFill>
                <a:latin typeface="Arial" pitchFamily="34" charset="0"/>
                <a:ea typeface="Arial" pitchFamily="34" charset="-122"/>
                <a:cs typeface="Arial" pitchFamily="34" charset="-120"/>
              </a:rPr>
              <a:t>Vibe-coded solo, end to end</a:t>
            </a:r>
            <a:endParaRPr lang="en-US" sz="3400" dirty="0"/>
          </a:p>
        </p:txBody>
      </p:sp>
      <p:sp>
        <p:nvSpPr>
          <p:cNvPr id="4" name="Shape 2"/>
          <p:cNvSpPr/>
          <p:nvPr/>
        </p:nvSpPr>
        <p:spPr>
          <a:xfrm>
            <a:off x="566928" y="1828800"/>
            <a:ext cx="3383280" cy="1554480"/>
          </a:xfrm>
          <a:prstGeom prst="roundRect">
            <a:avLst>
              <a:gd name="adj" fmla="val 4706"/>
            </a:avLst>
          </a:prstGeom>
          <a:solidFill>
            <a:srgbClr val="1E2748"/>
          </a:solidFill>
          <a:ln/>
        </p:spPr>
      </p:sp>
      <p:sp>
        <p:nvSpPr>
          <p:cNvPr id="5" name="Text 3"/>
          <p:cNvSpPr/>
          <p:nvPr/>
        </p:nvSpPr>
        <p:spPr>
          <a:xfrm>
            <a:off x="566928" y="1965960"/>
            <a:ext cx="3383280" cy="457200"/>
          </a:xfrm>
          <a:prstGeom prst="rect">
            <a:avLst/>
          </a:prstGeom>
          <a:noFill/>
          <a:ln/>
        </p:spPr>
        <p:txBody>
          <a:bodyPr wrap="square" rtlCol="0" anchor="ctr"/>
          <a:lstStyle/>
          <a:p>
            <a:pPr marL="0" indent="0" algn="ctr">
              <a:buNone/>
            </a:pPr>
            <a:r>
              <a:rPr lang="en-US" sz="1700" b="1" dirty="0">
                <a:solidFill>
                  <a:srgbClr val="F4F5FF"/>
                </a:solidFill>
                <a:latin typeface="Arial" pitchFamily="34" charset="0"/>
                <a:ea typeface="Arial" pitchFamily="34" charset="-122"/>
                <a:cs typeface="Arial" pitchFamily="34" charset="-120"/>
              </a:rPr>
              <a:t>Google AI Studio</a:t>
            </a:r>
            <a:endParaRPr lang="en-US" sz="1700" dirty="0"/>
          </a:p>
        </p:txBody>
      </p:sp>
      <p:sp>
        <p:nvSpPr>
          <p:cNvPr id="6" name="Text 4"/>
          <p:cNvSpPr/>
          <p:nvPr/>
        </p:nvSpPr>
        <p:spPr>
          <a:xfrm>
            <a:off x="704088" y="2423160"/>
            <a:ext cx="3108960" cy="914400"/>
          </a:xfrm>
          <a:prstGeom prst="rect">
            <a:avLst/>
          </a:prstGeom>
          <a:noFill/>
          <a:ln/>
        </p:spPr>
        <p:txBody>
          <a:bodyPr wrap="square" rtlCol="0" anchor="ctr"/>
          <a:lstStyle/>
          <a:p>
            <a:pPr marL="0" indent="0" algn="ctr">
              <a:buNone/>
            </a:pPr>
            <a:r>
              <a:rPr lang="en-US" sz="1250" dirty="0">
                <a:solidFill>
                  <a:srgbClr val="9AA1C0"/>
                </a:solidFill>
                <a:latin typeface="Calibri" pitchFamily="34" charset="0"/>
                <a:ea typeface="Calibri" pitchFamily="34" charset="-122"/>
                <a:cs typeface="Calibri" pitchFamily="34" charset="-120"/>
              </a:rPr>
              <a:t>origin — the first app + first UI</a:t>
            </a:r>
            <a:endParaRPr lang="en-US" sz="1250" dirty="0"/>
          </a:p>
        </p:txBody>
      </p:sp>
      <p:sp>
        <p:nvSpPr>
          <p:cNvPr id="7" name="Shape 5"/>
          <p:cNvSpPr/>
          <p:nvPr/>
        </p:nvSpPr>
        <p:spPr>
          <a:xfrm>
            <a:off x="4407408" y="1828800"/>
            <a:ext cx="3383280" cy="1554480"/>
          </a:xfrm>
          <a:prstGeom prst="roundRect">
            <a:avLst>
              <a:gd name="adj" fmla="val 4706"/>
            </a:avLst>
          </a:prstGeom>
          <a:solidFill>
            <a:srgbClr val="2A2440"/>
          </a:solidFill>
          <a:ln/>
        </p:spPr>
      </p:sp>
      <p:sp>
        <p:nvSpPr>
          <p:cNvPr id="8" name="Text 6"/>
          <p:cNvSpPr/>
          <p:nvPr/>
        </p:nvSpPr>
        <p:spPr>
          <a:xfrm>
            <a:off x="4407408" y="1965960"/>
            <a:ext cx="3383280" cy="457200"/>
          </a:xfrm>
          <a:prstGeom prst="rect">
            <a:avLst/>
          </a:prstGeom>
          <a:noFill/>
          <a:ln/>
        </p:spPr>
        <p:txBody>
          <a:bodyPr wrap="square" rtlCol="0" anchor="ctr"/>
          <a:lstStyle/>
          <a:p>
            <a:pPr marL="0" indent="0" algn="ctr">
              <a:buNone/>
            </a:pPr>
            <a:r>
              <a:rPr lang="en-US" sz="1700" b="1" dirty="0">
                <a:solidFill>
                  <a:srgbClr val="F4F5FF"/>
                </a:solidFill>
                <a:latin typeface="Arial" pitchFamily="34" charset="0"/>
                <a:ea typeface="Arial" pitchFamily="34" charset="-122"/>
                <a:cs typeface="Arial" pitchFamily="34" charset="-120"/>
              </a:rPr>
              <a:t>Antigravity</a:t>
            </a:r>
            <a:endParaRPr lang="en-US" sz="1700" dirty="0"/>
          </a:p>
        </p:txBody>
      </p:sp>
      <p:sp>
        <p:nvSpPr>
          <p:cNvPr id="9" name="Text 7"/>
          <p:cNvSpPr/>
          <p:nvPr/>
        </p:nvSpPr>
        <p:spPr>
          <a:xfrm>
            <a:off x="4544568" y="2423160"/>
            <a:ext cx="3108960" cy="914400"/>
          </a:xfrm>
          <a:prstGeom prst="rect">
            <a:avLst/>
          </a:prstGeom>
          <a:noFill/>
          <a:ln/>
        </p:spPr>
        <p:txBody>
          <a:bodyPr wrap="square" rtlCol="0" anchor="ctr"/>
          <a:lstStyle/>
          <a:p>
            <a:pPr marL="0" indent="0" algn="ctr">
              <a:buNone/>
            </a:pPr>
            <a:r>
              <a:rPr lang="en-US" sz="1250" dirty="0">
                <a:solidFill>
                  <a:srgbClr val="9AA1C0"/>
                </a:solidFill>
                <a:latin typeface="Calibri" pitchFamily="34" charset="0"/>
                <a:ea typeface="Calibri" pitchFamily="34" charset="-122"/>
                <a:cs typeface="Calibri" pitchFamily="34" charset="-120"/>
              </a:rPr>
              <a:t>early dev pass · </a:t>
            </a:r>
            <a:r>
              <a:rPr lang="en-US" sz="1250">
                <a:solidFill>
                  <a:srgbClr val="9AA1C0"/>
                </a:solidFill>
                <a:latin typeface="Calibri" pitchFamily="34" charset="0"/>
                <a:ea typeface="Calibri" pitchFamily="34" charset="-122"/>
                <a:cs typeface="Calibri" pitchFamily="34" charset="-120"/>
              </a:rPr>
              <a:t>later planning, architecture, </a:t>
            </a:r>
            <a:r>
              <a:rPr lang="en-US" sz="1250" dirty="0">
                <a:solidFill>
                  <a:srgbClr val="9AA1C0"/>
                </a:solidFill>
                <a:latin typeface="Calibri" pitchFamily="34" charset="0"/>
                <a:ea typeface="Calibri" pitchFamily="34" charset="-122"/>
                <a:cs typeface="Calibri" pitchFamily="34" charset="-120"/>
              </a:rPr>
              <a:t>and code review partner · multiple full UX / accessibility reviews of the shipped shell throughout planning and development</a:t>
            </a:r>
            <a:endParaRPr lang="en-US" sz="1250" dirty="0"/>
          </a:p>
        </p:txBody>
      </p:sp>
      <p:sp>
        <p:nvSpPr>
          <p:cNvPr id="10" name="Shape 8"/>
          <p:cNvSpPr/>
          <p:nvPr/>
        </p:nvSpPr>
        <p:spPr>
          <a:xfrm>
            <a:off x="8247888" y="1828800"/>
            <a:ext cx="3383280" cy="1554480"/>
          </a:xfrm>
          <a:prstGeom prst="roundRect">
            <a:avLst>
              <a:gd name="adj" fmla="val 4706"/>
            </a:avLst>
          </a:prstGeom>
          <a:solidFill>
            <a:srgbClr val="1E3038"/>
          </a:solidFill>
          <a:ln/>
        </p:spPr>
      </p:sp>
      <p:sp>
        <p:nvSpPr>
          <p:cNvPr id="11" name="Text 9"/>
          <p:cNvSpPr/>
          <p:nvPr/>
        </p:nvSpPr>
        <p:spPr>
          <a:xfrm>
            <a:off x="8247888" y="1965960"/>
            <a:ext cx="3383280" cy="457200"/>
          </a:xfrm>
          <a:prstGeom prst="rect">
            <a:avLst/>
          </a:prstGeom>
          <a:noFill/>
          <a:ln/>
        </p:spPr>
        <p:txBody>
          <a:bodyPr wrap="square" rtlCol="0" anchor="ctr"/>
          <a:lstStyle/>
          <a:p>
            <a:pPr marL="0" indent="0" algn="ctr">
              <a:buNone/>
            </a:pPr>
            <a:r>
              <a:rPr lang="en-US" sz="1700" b="1" dirty="0">
                <a:solidFill>
                  <a:srgbClr val="F4F5FF"/>
                </a:solidFill>
                <a:latin typeface="Arial" pitchFamily="34" charset="0"/>
                <a:ea typeface="Arial" pitchFamily="34" charset="-122"/>
                <a:cs typeface="Arial" pitchFamily="34" charset="-120"/>
              </a:rPr>
              <a:t>Claude Code</a:t>
            </a:r>
            <a:endParaRPr lang="en-US" sz="1700" dirty="0"/>
          </a:p>
        </p:txBody>
      </p:sp>
      <p:sp>
        <p:nvSpPr>
          <p:cNvPr id="12" name="Text 10"/>
          <p:cNvSpPr/>
          <p:nvPr/>
        </p:nvSpPr>
        <p:spPr>
          <a:xfrm>
            <a:off x="8385048" y="2423160"/>
            <a:ext cx="3108960" cy="914400"/>
          </a:xfrm>
          <a:prstGeom prst="rect">
            <a:avLst/>
          </a:prstGeom>
          <a:noFill/>
          <a:ln/>
        </p:spPr>
        <p:txBody>
          <a:bodyPr wrap="square" rtlCol="0" anchor="ctr"/>
          <a:lstStyle/>
          <a:p>
            <a:pPr marL="0" indent="0" algn="ctr">
              <a:buNone/>
            </a:pPr>
            <a:r>
              <a:rPr lang="en-US" sz="1250" dirty="0">
                <a:solidFill>
                  <a:srgbClr val="9AA1C0"/>
                </a:solidFill>
                <a:latin typeface="Calibri" pitchFamily="34" charset="0"/>
                <a:ea typeface="Calibri" pitchFamily="34" charset="-122"/>
                <a:cs typeface="Calibri" pitchFamily="34" charset="-120"/>
              </a:rPr>
              <a:t>the main development loop — Gemini as the runtime brain throughout</a:t>
            </a:r>
            <a:endParaRPr lang="en-US" sz="1250" dirty="0"/>
          </a:p>
        </p:txBody>
      </p:sp>
      <p:sp>
        <p:nvSpPr>
          <p:cNvPr id="13" name="Text 11"/>
          <p:cNvSpPr/>
          <p:nvPr/>
        </p:nvSpPr>
        <p:spPr>
          <a:xfrm>
            <a:off x="566928" y="3931920"/>
            <a:ext cx="11064240" cy="822960"/>
          </a:xfrm>
          <a:prstGeom prst="rect">
            <a:avLst/>
          </a:prstGeom>
          <a:noFill/>
          <a:ln/>
        </p:spPr>
        <p:txBody>
          <a:bodyPr wrap="square" rtlCol="0" anchor="ctr"/>
          <a:lstStyle/>
          <a:p>
            <a:pPr marL="0" indent="0" algn="ctr">
              <a:buNone/>
            </a:pPr>
            <a:r>
              <a:rPr lang="en-US" sz="1700" i="1" dirty="0">
                <a:solidFill>
                  <a:srgbClr val="F2B84B"/>
                </a:solidFill>
                <a:latin typeface="Calibri" pitchFamily="34" charset="0"/>
                <a:ea typeface="Calibri" pitchFamily="34" charset="-122"/>
                <a:cs typeface="Calibri" pitchFamily="34" charset="-120"/>
              </a:rPr>
              <a:t>The eval suite ATTACKS the agent: payment requests, prompt injection in web pages and documents — safety invariants pinned as tests.</a:t>
            </a:r>
            <a:endParaRPr lang="en-US" sz="1700" dirty="0"/>
          </a:p>
        </p:txBody>
      </p:sp>
      <p:sp>
        <p:nvSpPr>
          <p:cNvPr id="14" name="Text 12"/>
          <p:cNvSpPr/>
          <p:nvPr/>
        </p:nvSpPr>
        <p:spPr>
          <a:xfrm>
            <a:off x="566928" y="4846320"/>
            <a:ext cx="11064240" cy="548640"/>
          </a:xfrm>
          <a:prstGeom prst="rect">
            <a:avLst/>
          </a:prstGeom>
          <a:noFill/>
          <a:ln/>
        </p:spPr>
        <p:txBody>
          <a:bodyPr wrap="square" rtlCol="0" anchor="ctr"/>
          <a:lstStyle/>
          <a:p>
            <a:pPr marL="0" indent="0" algn="ctr">
              <a:buNone/>
            </a:pPr>
            <a:r>
              <a:rPr lang="en-US" sz="1500" dirty="0">
                <a:solidFill>
                  <a:srgbClr val="9AA1C0"/>
                </a:solidFill>
                <a:latin typeface="Calibri" pitchFamily="34" charset="0"/>
                <a:ea typeface="Calibri" pitchFamily="34" charset="-122"/>
                <a:cs typeface="Calibri" pitchFamily="34" charset="-120"/>
              </a:rPr>
              <a:t>925 frontend tests · 30 agent tests · deployable three ways: Cloud Run, docker compose, Raspberry Pi</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A"/>
        </a:solidFill>
        <a:effectLst/>
      </p:bgPr>
    </p:bg>
    <p:spTree>
      <p:nvGrpSpPr>
        <p:cNvPr id="1" name=""/>
        <p:cNvGrpSpPr/>
        <p:nvPr/>
      </p:nvGrpSpPr>
      <p:grpSpPr>
        <a:xfrm>
          <a:off x="0" y="0"/>
          <a:ext cx="0" cy="0"/>
          <a:chOff x="0" y="0"/>
          <a:chExt cx="0" cy="0"/>
        </a:xfrm>
      </p:grpSpPr>
      <p:sp>
        <p:nvSpPr>
          <p:cNvPr id="2" name="Text 0"/>
          <p:cNvSpPr/>
          <p:nvPr/>
        </p:nvSpPr>
        <p:spPr>
          <a:xfrm>
            <a:off x="548640" y="822960"/>
            <a:ext cx="11064240" cy="914400"/>
          </a:xfrm>
          <a:prstGeom prst="rect">
            <a:avLst/>
          </a:prstGeom>
          <a:noFill/>
          <a:ln/>
        </p:spPr>
        <p:txBody>
          <a:bodyPr wrap="square" rtlCol="0" anchor="ctr"/>
          <a:lstStyle/>
          <a:p>
            <a:pPr marL="0" indent="0" algn="ctr">
              <a:buNone/>
            </a:pPr>
            <a:r>
              <a:rPr lang="en-US" sz="4400" b="1" dirty="0">
                <a:solidFill>
                  <a:srgbClr val="F4F5FF"/>
                </a:solidFill>
                <a:latin typeface="Arial" pitchFamily="34" charset="0"/>
                <a:ea typeface="Arial" pitchFamily="34" charset="-122"/>
                <a:cs typeface="Arial" pitchFamily="34" charset="-120"/>
              </a:rPr>
              <a:t>Let’s drive it.</a:t>
            </a:r>
            <a:endParaRPr lang="en-US" sz="4400" dirty="0"/>
          </a:p>
        </p:txBody>
      </p:sp>
      <p:sp>
        <p:nvSpPr>
          <p:cNvPr id="3" name="Text 1"/>
          <p:cNvSpPr/>
          <p:nvPr/>
        </p:nvSpPr>
        <p:spPr>
          <a:xfrm>
            <a:off x="548640" y="1783080"/>
            <a:ext cx="11064240" cy="457200"/>
          </a:xfrm>
          <a:prstGeom prst="rect">
            <a:avLst/>
          </a:prstGeom>
          <a:noFill/>
          <a:ln/>
        </p:spPr>
        <p:txBody>
          <a:bodyPr wrap="square" rtlCol="0" anchor="ctr"/>
          <a:lstStyle/>
          <a:p>
            <a:pPr marL="0" indent="0" algn="ctr">
              <a:buNone/>
            </a:pPr>
            <a:r>
              <a:rPr lang="en-US" sz="1700" dirty="0">
                <a:solidFill>
                  <a:srgbClr val="7C7FF2"/>
                </a:solidFill>
                <a:latin typeface="Calibri" pitchFamily="34" charset="0"/>
                <a:ea typeface="Calibri" pitchFamily="34" charset="-122"/>
                <a:cs typeface="Calibri" pitchFamily="34" charset="-120"/>
              </a:rPr>
              <a:t>family-hub-web-420776046740.us-central1.run.app  ·  Try the demo — no sign-in</a:t>
            </a:r>
            <a:endParaRPr lang="en-US" sz="1700" dirty="0"/>
          </a:p>
        </p:txBody>
      </p:sp>
      <p:sp>
        <p:nvSpPr>
          <p:cNvPr id="4" name="Text 2"/>
          <p:cNvSpPr/>
          <p:nvPr/>
        </p:nvSpPr>
        <p:spPr>
          <a:xfrm>
            <a:off x="1463040" y="2514600"/>
            <a:ext cx="9326880" cy="3840480"/>
          </a:xfrm>
          <a:prstGeom prst="rect">
            <a:avLst/>
          </a:prstGeom>
          <a:noFill/>
          <a:ln/>
        </p:spPr>
        <p:txBody>
          <a:bodyPr wrap="square" rtlCol="0" anchor="t"/>
          <a:lstStyle/>
          <a:p>
            <a:pPr marL="0" indent="0">
              <a:spcAft>
                <a:spcPts val="900"/>
              </a:spcAft>
              <a:buNone/>
            </a:pPr>
            <a:r>
              <a:rPr lang="en-US" sz="1650" dirty="0">
                <a:solidFill>
                  <a:srgbClr val="F4F5FF"/>
                </a:solidFill>
                <a:latin typeface="Calibri" pitchFamily="34" charset="0"/>
                <a:ea typeface="Calibri" pitchFamily="34" charset="-122"/>
                <a:cs typeface="Calibri" pitchFamily="34" charset="-120"/>
              </a:rPr>
              <a:t>①  Try the demo → an isolated, seeded household (production RLS, anonymous auth)</a:t>
            </a:r>
            <a:endParaRPr lang="en-US" sz="1650" dirty="0"/>
          </a:p>
          <a:p>
            <a:pPr marL="0" indent="0">
              <a:spcAft>
                <a:spcPts val="900"/>
              </a:spcAft>
              <a:buNone/>
            </a:pPr>
            <a:r>
              <a:rPr lang="en-US" sz="1650" dirty="0">
                <a:solidFill>
                  <a:srgbClr val="F4F5FF"/>
                </a:solidFill>
                <a:latin typeface="Calibri" pitchFamily="34" charset="0"/>
                <a:ea typeface="Calibri" pitchFamily="34" charset="-122"/>
                <a:cs typeface="Calibri" pitchFamily="34" charset="-120"/>
              </a:rPr>
              <a:t>②  ☀️ Preview today’s briefing → planner proposals → Stage drafts → Approvals</a:t>
            </a:r>
            <a:endParaRPr lang="en-US" sz="1650" dirty="0"/>
          </a:p>
          <a:p>
            <a:pPr marL="0" indent="0">
              <a:spcAft>
                <a:spcPts val="900"/>
              </a:spcAft>
              <a:buNone/>
            </a:pPr>
            <a:r>
              <a:rPr lang="en-US" sz="1650" dirty="0">
                <a:solidFill>
                  <a:srgbClr val="F4F5FF"/>
                </a:solidFill>
                <a:latin typeface="Calibri" pitchFamily="34" charset="0"/>
                <a:ea typeface="Calibri" pitchFamily="34" charset="-122"/>
                <a:cs typeface="Calibri" pitchFamily="34" charset="-120"/>
              </a:rPr>
              <a:t>③  “Plan a Mount Rainier day trip next weekend</a:t>
            </a:r>
            <a:r>
              <a:rPr lang="en-US" sz="1650">
                <a:solidFill>
                  <a:srgbClr val="F4F5FF"/>
                </a:solidFill>
                <a:latin typeface="Calibri" pitchFamily="34" charset="0"/>
                <a:ea typeface="Calibri" pitchFamily="34" charset="-122"/>
                <a:cs typeface="Calibri" pitchFamily="34" charset="-120"/>
              </a:rPr>
              <a:t>, track it as a goal” → goal strip + grounded itinerary</a:t>
            </a:r>
            <a:endParaRPr lang="en-US" sz="1650" dirty="0"/>
          </a:p>
          <a:p>
            <a:pPr marL="0" indent="0">
              <a:spcAft>
                <a:spcPts val="900"/>
              </a:spcAft>
              <a:buNone/>
            </a:pPr>
            <a:r>
              <a:rPr lang="en-US" sz="1650">
                <a:solidFill>
                  <a:srgbClr val="F4F5FF"/>
                </a:solidFill>
                <a:latin typeface="Calibri" pitchFamily="34" charset="0"/>
                <a:ea typeface="Calibri" pitchFamily="34" charset="-122"/>
                <a:cs typeface="Calibri" pitchFamily="34" charset="-120"/>
              </a:rPr>
              <a:t>④  “Book a dinner table for 4 Saturday 7pm” → Actions handoff · “pay for it” → the refusal</a:t>
            </a:r>
            <a:endParaRPr lang="en-US" sz="1650" dirty="0"/>
          </a:p>
          <a:p>
            <a:pPr marL="0" indent="0">
              <a:spcAft>
                <a:spcPts val="900"/>
              </a:spcAft>
              <a:buNone/>
            </a:pPr>
            <a:r>
              <a:rPr lang="en-US" sz="1650" dirty="0">
                <a:solidFill>
                  <a:srgbClr val="F4F5FF"/>
                </a:solidFill>
                <a:latin typeface="Calibri" pitchFamily="34" charset="0"/>
                <a:ea typeface="Calibri" pitchFamily="34" charset="-122"/>
                <a:cs typeface="Calibri" pitchFamily="34" charset="-120"/>
              </a:rPr>
              <a:t>⑤  “Add a chore for Max to water the plants tomorrow morning” → Chores tab</a:t>
            </a:r>
            <a:endParaRPr lang="en-US" sz="1650" dirty="0"/>
          </a:p>
          <a:p>
            <a:pPr marL="342900" indent="-342900">
              <a:spcAft>
                <a:spcPts val="900"/>
              </a:spcAft>
              <a:buAutoNum type="circleNumDbPlain" startAt="6"/>
            </a:pPr>
            <a:r>
              <a:rPr lang="en-US" sz="1650" dirty="0">
                <a:solidFill>
                  <a:srgbClr val="F4F5FF"/>
                </a:solidFill>
                <a:latin typeface="Calibri" pitchFamily="34" charset="0"/>
                <a:ea typeface="Calibri" pitchFamily="34" charset="-122"/>
                <a:cs typeface="Calibri" pitchFamily="34" charset="-120"/>
              </a:rPr>
              <a:t>Manage → Kid mode ON → tap a chore → confetti → hold 🔒 </a:t>
            </a:r>
            <a:r>
              <a:rPr lang="en-US" sz="1650">
                <a:solidFill>
                  <a:srgbClr val="F4F5FF"/>
                </a:solidFill>
                <a:latin typeface="Calibri" pitchFamily="34" charset="0"/>
                <a:ea typeface="Calibri" pitchFamily="34" charset="-122"/>
                <a:cs typeface="Calibri" pitchFamily="34" charset="-120"/>
              </a:rPr>
              <a:t>to exit</a:t>
            </a:r>
            <a:endParaRPr lang="en-US" sz="1650" dirty="0">
              <a:solidFill>
                <a:srgbClr val="F4F5FF"/>
              </a:solidFill>
              <a:latin typeface="Calibri" pitchFamily="34" charset="0"/>
              <a:ea typeface="Calibri" pitchFamily="34" charset="-122"/>
              <a:cs typeface="Calibri" pitchFamily="34"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F1A"/>
        </a:solidFill>
        <a:effectLst/>
      </p:bgPr>
    </p:bg>
    <p:spTree>
      <p:nvGrpSpPr>
        <p:cNvPr id="1" name=""/>
        <p:cNvGrpSpPr/>
        <p:nvPr/>
      </p:nvGrpSpPr>
      <p:grpSpPr>
        <a:xfrm>
          <a:off x="0" y="0"/>
          <a:ext cx="0" cy="0"/>
          <a:chOff x="0" y="0"/>
          <a:chExt cx="0" cy="0"/>
        </a:xfrm>
      </p:grpSpPr>
      <p:sp>
        <p:nvSpPr>
          <p:cNvPr id="2" name="TextBox 1"/>
          <p:cNvSpPr txBox="1"/>
          <p:nvPr/>
        </p:nvSpPr>
        <p:spPr>
          <a:xfrm>
            <a:off x="566928" y="109728"/>
            <a:ext cx="9144000" cy="320040"/>
          </a:xfrm>
          <a:prstGeom prst="rect">
            <a:avLst/>
          </a:prstGeom>
          <a:noFill/>
        </p:spPr>
        <p:txBody>
          <a:bodyPr wrap="square">
            <a:spAutoFit/>
          </a:bodyPr>
          <a:lstStyle/>
          <a:p>
            <a:pPr algn="l"/>
            <a:r>
              <a:rPr sz="1200" b="1">
                <a:solidFill>
                  <a:srgbClr val="7C7FF2"/>
                </a:solidFill>
                <a:latin typeface="Arial"/>
              </a:rPr>
              <a:t>WHAT’S NEXT</a:t>
            </a:r>
          </a:p>
        </p:txBody>
      </p:sp>
      <p:sp>
        <p:nvSpPr>
          <p:cNvPr id="3" name="TextBox 2"/>
          <p:cNvSpPr txBox="1"/>
          <p:nvPr/>
        </p:nvSpPr>
        <p:spPr>
          <a:xfrm>
            <a:off x="548640" y="411480"/>
            <a:ext cx="11064240" cy="777240"/>
          </a:xfrm>
          <a:prstGeom prst="rect">
            <a:avLst/>
          </a:prstGeom>
          <a:noFill/>
        </p:spPr>
        <p:txBody>
          <a:bodyPr wrap="square">
            <a:spAutoFit/>
          </a:bodyPr>
          <a:lstStyle/>
          <a:p>
            <a:pPr algn="l"/>
            <a:r>
              <a:rPr sz="3400" b="1">
                <a:solidFill>
                  <a:srgbClr val="F4F5FF"/>
                </a:solidFill>
                <a:latin typeface="Arial"/>
              </a:rPr>
              <a:t>This week’s roadmap — same safety spine</a:t>
            </a:r>
          </a:p>
        </p:txBody>
      </p:sp>
      <p:sp>
        <p:nvSpPr>
          <p:cNvPr id="4" name="Rounded Rectangle 3"/>
          <p:cNvSpPr/>
          <p:nvPr/>
        </p:nvSpPr>
        <p:spPr>
          <a:xfrm>
            <a:off x="566928" y="1554480"/>
            <a:ext cx="5440680" cy="1325880"/>
          </a:xfrm>
          <a:prstGeom prst="roundRect">
            <a:avLst/>
          </a:prstGeom>
          <a:solidFill>
            <a:srgbClr val="141A2E"/>
          </a:solidFill>
          <a:ln w="6350">
            <a:solidFill>
              <a:srgbClr val="7C7FF2"/>
            </a:solidFill>
          </a:ln>
          <a:effectLst/>
        </p:spPr>
        <p:style>
          <a:lnRef idx="1">
            <a:schemeClr val="accent1"/>
          </a:lnRef>
          <a:fillRef idx="3">
            <a:schemeClr val="accent1"/>
          </a:fillRef>
          <a:effectRef idx="2">
            <a:schemeClr val="accent1"/>
          </a:effectRef>
          <a:fontRef idx="minor">
            <a:schemeClr val="lt1"/>
          </a:fontRef>
        </p:style>
        <p:txBody>
          <a:bodyPr wrap="square" lIns="201168" tIns="128016" rIns="201168" rtlCol="0" anchor="ctr"/>
          <a:lstStyle/>
          <a:p>
            <a:pPr algn="ctr"/>
            <a:r>
              <a:rPr sz="1550" b="1">
                <a:solidFill>
                  <a:srgbClr val="F2B84B"/>
                </a:solidFill>
                <a:latin typeface="Arial"/>
              </a:rPr>
              <a:t>Kroger cart integration</a:t>
            </a:r>
          </a:p>
          <a:p>
            <a:pPr>
              <a:spcBef>
                <a:spcPts val="300"/>
              </a:spcBef>
            </a:pPr>
            <a:r>
              <a:rPr sz="1250">
                <a:solidFill>
                  <a:srgbClr val="F4F5FF"/>
                </a:solidFill>
                <a:latin typeface="Calibri"/>
              </a:rPr>
              <a:t>“paneer butter masala” → one approved draft fills the QFC cart. Kroger’s API has no payment endpoint — the invariant holds by contract.</a:t>
            </a:r>
          </a:p>
        </p:txBody>
      </p:sp>
      <p:sp>
        <p:nvSpPr>
          <p:cNvPr id="5" name="Rounded Rectangle 4"/>
          <p:cNvSpPr/>
          <p:nvPr/>
        </p:nvSpPr>
        <p:spPr>
          <a:xfrm>
            <a:off x="6327648" y="1554480"/>
            <a:ext cx="5440680" cy="1325880"/>
          </a:xfrm>
          <a:prstGeom prst="roundRect">
            <a:avLst/>
          </a:prstGeom>
          <a:solidFill>
            <a:srgbClr val="141A2E"/>
          </a:solidFill>
          <a:ln w="6350">
            <a:solidFill>
              <a:srgbClr val="7C7FF2"/>
            </a:solidFill>
          </a:ln>
          <a:effectLst/>
        </p:spPr>
        <p:style>
          <a:lnRef idx="1">
            <a:schemeClr val="accent1"/>
          </a:lnRef>
          <a:fillRef idx="3">
            <a:schemeClr val="accent1"/>
          </a:fillRef>
          <a:effectRef idx="2">
            <a:schemeClr val="accent1"/>
          </a:effectRef>
          <a:fontRef idx="minor">
            <a:schemeClr val="lt1"/>
          </a:fontRef>
        </p:style>
        <p:txBody>
          <a:bodyPr wrap="square" lIns="201168" tIns="128016" rIns="201168" rtlCol="0" anchor="ctr"/>
          <a:lstStyle/>
          <a:p>
            <a:pPr algn="ctr"/>
            <a:r>
              <a:rPr sz="1550" b="1">
                <a:solidFill>
                  <a:srgbClr val="F2B84B"/>
                </a:solidFill>
                <a:latin typeface="Arial"/>
              </a:rPr>
              <a:t>$0 private mode</a:t>
            </a:r>
          </a:p>
          <a:p>
            <a:pPr>
              <a:spcBef>
                <a:spcPts val="300"/>
              </a:spcBef>
            </a:pPr>
            <a:r>
              <a:rPr sz="1250">
                <a:solidFill>
                  <a:srgbClr val="F4F5FF"/>
                </a:solidFill>
                <a:latin typeface="Calibri"/>
              </a:rPr>
              <a:t>gpt-oss:20b running locally on the home box — no cloud, no bill. Eval-gated before it ever serves the family.</a:t>
            </a:r>
          </a:p>
        </p:txBody>
      </p:sp>
      <p:sp>
        <p:nvSpPr>
          <p:cNvPr id="6" name="Rounded Rectangle 5"/>
          <p:cNvSpPr/>
          <p:nvPr/>
        </p:nvSpPr>
        <p:spPr>
          <a:xfrm>
            <a:off x="566928" y="3136391"/>
            <a:ext cx="5440680" cy="1325880"/>
          </a:xfrm>
          <a:prstGeom prst="roundRect">
            <a:avLst/>
          </a:prstGeom>
          <a:solidFill>
            <a:srgbClr val="141A2E"/>
          </a:solidFill>
          <a:ln w="6350">
            <a:solidFill>
              <a:srgbClr val="7C7FF2"/>
            </a:solidFill>
          </a:ln>
          <a:effectLst/>
        </p:spPr>
        <p:style>
          <a:lnRef idx="1">
            <a:schemeClr val="accent1"/>
          </a:lnRef>
          <a:fillRef idx="3">
            <a:schemeClr val="accent1"/>
          </a:fillRef>
          <a:effectRef idx="2">
            <a:schemeClr val="accent1"/>
          </a:effectRef>
          <a:fontRef idx="minor">
            <a:schemeClr val="lt1"/>
          </a:fontRef>
        </p:style>
        <p:txBody>
          <a:bodyPr wrap="square" lIns="201168" tIns="128016" rIns="201168" rtlCol="0" anchor="ctr"/>
          <a:lstStyle/>
          <a:p>
            <a:pPr algn="ctr"/>
            <a:r>
              <a:rPr sz="1550" b="1">
                <a:solidFill>
                  <a:srgbClr val="7C7FF2"/>
                </a:solidFill>
                <a:latin typeface="Arial"/>
              </a:rPr>
              <a:t>Household-defined store lists</a:t>
            </a:r>
          </a:p>
          <a:p>
            <a:pPr>
              <a:spcBef>
                <a:spcPts val="300"/>
              </a:spcBef>
            </a:pPr>
            <a:r>
              <a:rPr sz="1250">
                <a:solidFill>
                  <a:srgbClr val="F4F5FF"/>
                </a:solidFill>
                <a:latin typeface="Calibri"/>
              </a:rPr>
              <a:t>Your stores, not ours — rename Costco, add the farmers market.</a:t>
            </a:r>
          </a:p>
        </p:txBody>
      </p:sp>
      <p:sp>
        <p:nvSpPr>
          <p:cNvPr id="7" name="Rounded Rectangle 6"/>
          <p:cNvSpPr/>
          <p:nvPr/>
        </p:nvSpPr>
        <p:spPr>
          <a:xfrm>
            <a:off x="6327648" y="3136391"/>
            <a:ext cx="5440680" cy="1325880"/>
          </a:xfrm>
          <a:prstGeom prst="roundRect">
            <a:avLst/>
          </a:prstGeom>
          <a:solidFill>
            <a:srgbClr val="141A2E"/>
          </a:solidFill>
          <a:ln w="6350">
            <a:solidFill>
              <a:srgbClr val="7C7FF2"/>
            </a:solidFill>
          </a:ln>
          <a:effectLst/>
        </p:spPr>
        <p:style>
          <a:lnRef idx="1">
            <a:schemeClr val="accent1"/>
          </a:lnRef>
          <a:fillRef idx="3">
            <a:schemeClr val="accent1"/>
          </a:fillRef>
          <a:effectRef idx="2">
            <a:schemeClr val="accent1"/>
          </a:effectRef>
          <a:fontRef idx="minor">
            <a:schemeClr val="lt1"/>
          </a:fontRef>
        </p:style>
        <p:txBody>
          <a:bodyPr wrap="square" lIns="201168" tIns="128016" rIns="201168" rtlCol="0" anchor="ctr"/>
          <a:lstStyle/>
          <a:p>
            <a:pPr algn="ctr"/>
            <a:r>
              <a:rPr sz="1550" b="1">
                <a:solidFill>
                  <a:srgbClr val="7C7FF2"/>
                </a:solidFill>
                <a:latin typeface="Arial"/>
              </a:rPr>
              <a:t>Browser form-fill</a:t>
            </a:r>
          </a:p>
          <a:p>
            <a:pPr>
              <a:spcBef>
                <a:spcPts val="300"/>
              </a:spcBef>
            </a:pPr>
            <a:r>
              <a:rPr sz="1250">
                <a:solidFill>
                  <a:srgbClr val="F4F5FF"/>
                </a:solidFill>
                <a:latin typeface="Calibri"/>
              </a:rPr>
              <a:t>The last booking step, behind the step-up PIN tier.</a:t>
            </a:r>
          </a:p>
        </p:txBody>
      </p:sp>
      <p:sp>
        <p:nvSpPr>
          <p:cNvPr id="8" name="Rounded Rectangle 7"/>
          <p:cNvSpPr/>
          <p:nvPr/>
        </p:nvSpPr>
        <p:spPr>
          <a:xfrm>
            <a:off x="566928" y="4718304"/>
            <a:ext cx="5440680" cy="1325880"/>
          </a:xfrm>
          <a:prstGeom prst="roundRect">
            <a:avLst/>
          </a:prstGeom>
          <a:solidFill>
            <a:srgbClr val="141A2E"/>
          </a:solidFill>
          <a:ln w="6350">
            <a:solidFill>
              <a:srgbClr val="7C7FF2"/>
            </a:solidFill>
          </a:ln>
          <a:effectLst/>
        </p:spPr>
        <p:style>
          <a:lnRef idx="1">
            <a:schemeClr val="accent1"/>
          </a:lnRef>
          <a:fillRef idx="3">
            <a:schemeClr val="accent1"/>
          </a:fillRef>
          <a:effectRef idx="2">
            <a:schemeClr val="accent1"/>
          </a:effectRef>
          <a:fontRef idx="minor">
            <a:schemeClr val="lt1"/>
          </a:fontRef>
        </p:style>
        <p:txBody>
          <a:bodyPr wrap="square" lIns="201168" tIns="128016" rIns="201168" rtlCol="0" anchor="ctr"/>
          <a:lstStyle/>
          <a:p>
            <a:pPr algn="ctr"/>
            <a:r>
              <a:rPr sz="1550" b="1">
                <a:solidFill>
                  <a:srgbClr val="7C7FF2"/>
                </a:solidFill>
                <a:latin typeface="Arial"/>
              </a:rPr>
              <a:t>Deeper proactivity</a:t>
            </a:r>
          </a:p>
          <a:p>
            <a:pPr>
              <a:spcBef>
                <a:spcPts val="300"/>
              </a:spcBef>
            </a:pPr>
            <a:r>
              <a:rPr sz="1250">
                <a:solidFill>
                  <a:srgbClr val="F4F5FF"/>
                </a:solidFill>
                <a:latin typeface="Calibri"/>
              </a:rPr>
              <a:t>Per-member personalized digests · event-driven triggers, not just the morning cron.</a:t>
            </a:r>
          </a:p>
        </p:txBody>
      </p:sp>
      <p:sp>
        <p:nvSpPr>
          <p:cNvPr id="9" name="Rounded Rectangle 8"/>
          <p:cNvSpPr/>
          <p:nvPr/>
        </p:nvSpPr>
        <p:spPr>
          <a:xfrm>
            <a:off x="6327648" y="4718304"/>
            <a:ext cx="5440680" cy="1325880"/>
          </a:xfrm>
          <a:prstGeom prst="roundRect">
            <a:avLst/>
          </a:prstGeom>
          <a:solidFill>
            <a:srgbClr val="141A2E"/>
          </a:solidFill>
          <a:ln w="6350">
            <a:solidFill>
              <a:srgbClr val="7C7FF2"/>
            </a:solidFill>
          </a:ln>
          <a:effectLst/>
        </p:spPr>
        <p:style>
          <a:lnRef idx="1">
            <a:schemeClr val="accent1"/>
          </a:lnRef>
          <a:fillRef idx="3">
            <a:schemeClr val="accent1"/>
          </a:fillRef>
          <a:effectRef idx="2">
            <a:schemeClr val="accent1"/>
          </a:effectRef>
          <a:fontRef idx="minor">
            <a:schemeClr val="lt1"/>
          </a:fontRef>
        </p:style>
        <p:txBody>
          <a:bodyPr wrap="square" lIns="201168" tIns="128016" rIns="201168" rtlCol="0" anchor="ctr"/>
          <a:lstStyle/>
          <a:p>
            <a:pPr algn="ctr"/>
            <a:r>
              <a:rPr sz="1550" b="1">
                <a:solidFill>
                  <a:srgbClr val="7C7FF2"/>
                </a:solidFill>
                <a:latin typeface="Arial"/>
              </a:rPr>
              <a:t>Same approval gate</a:t>
            </a:r>
          </a:p>
          <a:p>
            <a:pPr>
              <a:spcBef>
                <a:spcPts val="300"/>
              </a:spcBef>
            </a:pPr>
            <a:r>
              <a:rPr sz="1250">
                <a:solidFill>
                  <a:srgbClr val="F4F5FF"/>
                </a:solidFill>
                <a:latin typeface="Calibri"/>
              </a:rPr>
              <a:t>Every new capability still stages a draft the adult approves.</a:t>
            </a:r>
          </a:p>
        </p:txBody>
      </p:sp>
      <p:sp>
        <p:nvSpPr>
          <p:cNvPr id="10" name="TextBox 9"/>
          <p:cNvSpPr txBox="1"/>
          <p:nvPr/>
        </p:nvSpPr>
        <p:spPr>
          <a:xfrm>
            <a:off x="548640" y="6355080"/>
            <a:ext cx="11064240" cy="411480"/>
          </a:xfrm>
          <a:prstGeom prst="rect">
            <a:avLst/>
          </a:prstGeom>
          <a:noFill/>
        </p:spPr>
        <p:txBody>
          <a:bodyPr wrap="square">
            <a:spAutoFit/>
          </a:bodyPr>
          <a:lstStyle/>
          <a:p>
            <a:pPr algn="ctr"/>
            <a:r>
              <a:rPr sz="1300" b="0">
                <a:solidFill>
                  <a:srgbClr val="9AA1C0"/>
                </a:solidFill>
                <a:latin typeface="Calibri"/>
              </a:rPr>
              <a:t>Family-Hub · AGPL open source · github.com/msampath/fam-hub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1485</Words>
  <Application>Microsoft Office PowerPoint</Application>
  <PresentationFormat>Custom</PresentationFormat>
  <Paragraphs>100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Surakshith Mayur Sampath</cp:lastModifiedBy>
  <cp:revision>11</cp:revision>
  <dcterms:created xsi:type="dcterms:W3CDTF">2026-07-05T03:37:46Z</dcterms:created>
  <dcterms:modified xsi:type="dcterms:W3CDTF">2026-07-05T18:39:03Z</dcterms:modified>
</cp:coreProperties>
</file>